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tags/tag1.xml" ContentType="application/vnd.openxmlformats-officedocument.presentationml.tag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5" r:id="rId4"/>
    <p:sldMasterId id="2147483750" r:id="rId5"/>
  </p:sldMasterIdLst>
  <p:notesMasterIdLst>
    <p:notesMasterId r:id="rId106"/>
  </p:notesMasterIdLst>
  <p:handoutMasterIdLst>
    <p:handoutMasterId r:id="rId107"/>
  </p:handoutMasterIdLst>
  <p:sldIdLst>
    <p:sldId id="684" r:id="rId6"/>
    <p:sldId id="746" r:id="rId7"/>
    <p:sldId id="1015" r:id="rId8"/>
    <p:sldId id="1034" r:id="rId9"/>
    <p:sldId id="884" r:id="rId10"/>
    <p:sldId id="885" r:id="rId11"/>
    <p:sldId id="888" r:id="rId12"/>
    <p:sldId id="886" r:id="rId13"/>
    <p:sldId id="887" r:id="rId14"/>
    <p:sldId id="1010" r:id="rId15"/>
    <p:sldId id="1011" r:id="rId16"/>
    <p:sldId id="1012" r:id="rId17"/>
    <p:sldId id="1013" r:id="rId18"/>
    <p:sldId id="893" r:id="rId19"/>
    <p:sldId id="1049" r:id="rId20"/>
    <p:sldId id="852" r:id="rId21"/>
    <p:sldId id="1050" r:id="rId22"/>
    <p:sldId id="894" r:id="rId23"/>
    <p:sldId id="895" r:id="rId24"/>
    <p:sldId id="1054" r:id="rId25"/>
    <p:sldId id="1055" r:id="rId26"/>
    <p:sldId id="1022" r:id="rId27"/>
    <p:sldId id="902" r:id="rId28"/>
    <p:sldId id="1038" r:id="rId29"/>
    <p:sldId id="865" r:id="rId30"/>
    <p:sldId id="899" r:id="rId31"/>
    <p:sldId id="1057" r:id="rId32"/>
    <p:sldId id="1058" r:id="rId33"/>
    <p:sldId id="903" r:id="rId34"/>
    <p:sldId id="1021" r:id="rId35"/>
    <p:sldId id="909" r:id="rId36"/>
    <p:sldId id="866" r:id="rId37"/>
    <p:sldId id="904" r:id="rId38"/>
    <p:sldId id="906" r:id="rId39"/>
    <p:sldId id="917" r:id="rId40"/>
    <p:sldId id="918" r:id="rId41"/>
    <p:sldId id="1059" r:id="rId42"/>
    <p:sldId id="861" r:id="rId43"/>
    <p:sldId id="923" r:id="rId44"/>
    <p:sldId id="911" r:id="rId45"/>
    <p:sldId id="914" r:id="rId46"/>
    <p:sldId id="1039" r:id="rId47"/>
    <p:sldId id="879" r:id="rId48"/>
    <p:sldId id="927" r:id="rId49"/>
    <p:sldId id="937" r:id="rId50"/>
    <p:sldId id="938" r:id="rId51"/>
    <p:sldId id="1014" r:id="rId52"/>
    <p:sldId id="857" r:id="rId53"/>
    <p:sldId id="864" r:id="rId54"/>
    <p:sldId id="1024" r:id="rId55"/>
    <p:sldId id="1025" r:id="rId56"/>
    <p:sldId id="1040" r:id="rId57"/>
    <p:sldId id="1027" r:id="rId58"/>
    <p:sldId id="849" r:id="rId59"/>
    <p:sldId id="844" r:id="rId60"/>
    <p:sldId id="959" r:id="rId61"/>
    <p:sldId id="1030" r:id="rId62"/>
    <p:sldId id="947" r:id="rId63"/>
    <p:sldId id="845" r:id="rId64"/>
    <p:sldId id="985" r:id="rId65"/>
    <p:sldId id="970" r:id="rId66"/>
    <p:sldId id="972" r:id="rId67"/>
    <p:sldId id="973" r:id="rId68"/>
    <p:sldId id="951" r:id="rId69"/>
    <p:sldId id="988" r:id="rId70"/>
    <p:sldId id="1041" r:id="rId71"/>
    <p:sldId id="1001" r:id="rId72"/>
    <p:sldId id="858" r:id="rId73"/>
    <p:sldId id="922" r:id="rId74"/>
    <p:sldId id="1037" r:id="rId75"/>
    <p:sldId id="1004" r:id="rId76"/>
    <p:sldId id="1031" r:id="rId77"/>
    <p:sldId id="1003" r:id="rId78"/>
    <p:sldId id="1005" r:id="rId79"/>
    <p:sldId id="1032" r:id="rId80"/>
    <p:sldId id="870" r:id="rId81"/>
    <p:sldId id="920" r:id="rId82"/>
    <p:sldId id="996" r:id="rId83"/>
    <p:sldId id="1006" r:id="rId84"/>
    <p:sldId id="921" r:id="rId85"/>
    <p:sldId id="997" r:id="rId86"/>
    <p:sldId id="924" r:id="rId87"/>
    <p:sldId id="798" r:id="rId88"/>
    <p:sldId id="1035" r:id="rId89"/>
    <p:sldId id="1000" r:id="rId90"/>
    <p:sldId id="1007" r:id="rId91"/>
    <p:sldId id="1017" r:id="rId92"/>
    <p:sldId id="998" r:id="rId93"/>
    <p:sldId id="1018" r:id="rId94"/>
    <p:sldId id="1020" r:id="rId95"/>
    <p:sldId id="871" r:id="rId96"/>
    <p:sldId id="1016" r:id="rId97"/>
    <p:sldId id="999" r:id="rId98"/>
    <p:sldId id="1019" r:id="rId99"/>
    <p:sldId id="1048" r:id="rId100"/>
    <p:sldId id="1042" r:id="rId101"/>
    <p:sldId id="1043" r:id="rId102"/>
    <p:sldId id="1044" r:id="rId103"/>
    <p:sldId id="1045" r:id="rId104"/>
    <p:sldId id="1046" r:id="rId105"/>
  </p:sldIdLst>
  <p:sldSz cx="9144000" cy="5143500" type="screen16x9"/>
  <p:notesSz cx="7010400" cy="9296400"/>
  <p:defaultTextStyle>
    <a:defPPr>
      <a:defRPr lang="nl-NL"/>
    </a:defPPr>
    <a:lvl1pPr algn="l" rtl="0" fontAlgn="base">
      <a:spcBef>
        <a:spcPct val="10000"/>
      </a:spcBef>
      <a:spcAft>
        <a:spcPct val="1000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10000"/>
      </a:spcBef>
      <a:spcAft>
        <a:spcPct val="1000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10000"/>
      </a:spcBef>
      <a:spcAft>
        <a:spcPct val="1000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10000"/>
      </a:spcBef>
      <a:spcAft>
        <a:spcPct val="1000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10000"/>
      </a:spcBef>
      <a:spcAft>
        <a:spcPct val="1000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021">
          <p15:clr>
            <a:srgbClr val="A4A3A4"/>
          </p15:clr>
        </p15:guide>
        <p15:guide id="2" pos="56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783" userDrawn="1">
          <p15:clr>
            <a:srgbClr val="A4A3A4"/>
          </p15:clr>
        </p15:guide>
        <p15:guide id="2" pos="1673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ristophoros Antoniades" initials="CA" lastIdx="123" clrIdx="0"/>
  <p:cmAuthor id="1" name="p.janssen" initials="p" lastIdx="1" clrIdx="1"/>
  <p:cmAuthor id="2" name="Sean OConnor" initials="SO" lastIdx="4" clrIdx="2"/>
  <p:cmAuthor id="3" name="Jakob Werner" initials="JW" lastIdx="11" clrIdx="3"/>
  <p:cmAuthor id="4" name="Jeroen Hardon" initials="JH" lastIdx="2" clrIdx="4"/>
  <p:cmAuthor id="5" name="Jack Horne" initials="JH" lastIdx="5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33CC"/>
    <a:srgbClr val="009900"/>
    <a:srgbClr val="E7F1F8"/>
    <a:srgbClr val="00FF99"/>
    <a:srgbClr val="000000"/>
    <a:srgbClr val="F29754"/>
    <a:srgbClr val="AFBBCF"/>
    <a:srgbClr val="FFC9C9"/>
    <a:srgbClr val="50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86947" autoAdjust="0"/>
  </p:normalViewPr>
  <p:slideViewPr>
    <p:cSldViewPr snapToGrid="0" snapToObjects="1">
      <p:cViewPr varScale="1">
        <p:scale>
          <a:sx n="131" d="100"/>
          <a:sy n="131" d="100"/>
        </p:scale>
        <p:origin x="1011" y="-1495"/>
      </p:cViewPr>
      <p:guideLst>
        <p:guide orient="horz" pos="1021"/>
        <p:guide pos="564"/>
      </p:guideLst>
    </p:cSldViewPr>
  </p:slideViewPr>
  <p:outlineViewPr>
    <p:cViewPr>
      <p:scale>
        <a:sx n="33" d="100"/>
        <a:sy n="33" d="100"/>
      </p:scale>
      <p:origin x="0" y="2039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4587"/>
    </p:cViewPr>
  </p:sorterViewPr>
  <p:notesViewPr>
    <p:cSldViewPr snapToGrid="0" snapToObjects="1">
      <p:cViewPr varScale="1">
        <p:scale>
          <a:sx n="57" d="100"/>
          <a:sy n="57" d="100"/>
        </p:scale>
        <p:origin x="-2850" y="-84"/>
      </p:cViewPr>
      <p:guideLst>
        <p:guide orient="horz" pos="3783"/>
        <p:guide pos="1673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07" Type="http://schemas.openxmlformats.org/officeDocument/2006/relationships/handoutMaster" Target="handoutMasters/handoutMaster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87" Type="http://schemas.openxmlformats.org/officeDocument/2006/relationships/slide" Target="slides/slide82.xml"/><Relationship Id="rId102" Type="http://schemas.openxmlformats.org/officeDocument/2006/relationships/slide" Target="slides/slide97.xml"/><Relationship Id="rId11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103" Type="http://schemas.openxmlformats.org/officeDocument/2006/relationships/slide" Target="slides/slide98.xml"/><Relationship Id="rId108" Type="http://schemas.openxmlformats.org/officeDocument/2006/relationships/commentAuthors" Target="commentAuthor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1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presProps" Target="presProps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defRPr sz="1200"/>
            </a:lvl1pPr>
          </a:lstStyle>
          <a:p>
            <a:endParaRPr lang="nl-NL"/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5" y="1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defRPr sz="1200"/>
            </a:lvl1pPr>
          </a:lstStyle>
          <a:p>
            <a:endParaRPr lang="nl-NL"/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29428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defRPr sz="1200"/>
            </a:lvl1pPr>
          </a:lstStyle>
          <a:p>
            <a:endParaRPr lang="nl-NL"/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5" y="8829428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defRPr sz="1200"/>
            </a:lvl1pPr>
          </a:lstStyle>
          <a:p>
            <a:fld id="{4F482CCA-6482-4301-B04E-B5C77F44AB0B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4693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8500"/>
            <a:ext cx="6194425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345" y="8829428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defRPr sz="1200"/>
            </a:lvl1pPr>
          </a:lstStyle>
          <a:p>
            <a:fld id="{D714FE2F-1C8A-4F9A-BF5B-BEA0CBA0CD4F}" type="slidenum">
              <a:rPr lang="nl-NL"/>
              <a:pPr/>
              <a:t>‹#›</a:t>
            </a:fld>
            <a:endParaRPr lang="nl-NL"/>
          </a:p>
        </p:txBody>
      </p:sp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>
          <a:xfrm>
            <a:off x="389469" y="4415791"/>
            <a:ext cx="6231466" cy="418338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31013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9390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82470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25089-367E-1424-3A77-3E833E944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672B8-7D19-F0AF-D386-6F93BA3E7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F67D8-FA7B-829F-2F2B-5B3A9875F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96FAF-223A-C96F-CB97-4EA57EF5D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0101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92630-83DA-1EA2-A7E7-85C8FCDF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FCF2A-6DEA-CE2F-477B-C31FD2FC2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E1105-DBC8-21B9-6C45-47A591B8A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DC8E0-E7D2-F566-63BD-BE39F0078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7924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05465-DB15-E490-13D3-44C039A74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69200-96FB-94E0-C374-A4F495CD8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7083C-2784-8FA4-EEB4-AD325A9B3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F8C93-3B81-52BA-E496-620A3EB96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3911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44B63-4A48-AC85-5590-B2EC7CDB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201F2-0008-8075-B2DB-8ADCECF24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311FD-EEF5-525A-BEF1-46C5D0951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1A13F-07A4-EB6B-BAA5-6DCE30C8D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00140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32E43-54B4-5999-9B3B-4552AE734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8F835-85C1-FAB1-FA07-50ABB82A1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7A529-6FC7-D5DB-E60A-56CC6E439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59A36-5A8D-3161-58B2-23C276227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8758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D2669-E2F9-A731-70D2-F4B49AE27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77F06-1FA7-59A3-E18A-36CFBABC8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9B187-3938-C584-4D38-78A8B507A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E42D6-CCC0-28D5-C3D1-23DD829C8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9171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003FF-DB38-671F-7C76-351165164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E45B9-BB55-0CB5-9ED6-7E6F27C4F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DBFC41-FC43-C30C-AE92-7EB5EF532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15315-38DF-6308-0692-A276EFF50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3771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682B5-4030-C551-8F87-E8C1E3BE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0F1C6-5543-CA25-8615-BA54ABBE9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66679-9CD8-1B58-5F1B-7C2E7A9D4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10E3B-9E4A-EE8E-2303-7F7BCE210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3971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3BC7D-DDCD-44A6-301F-A30CE8A9B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97D77-E4D6-D1A4-07BE-ED9A7C854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FF448-3CD3-58D4-3437-519A6DFE4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21D3E-EA82-7487-06A8-BD8980DD32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2577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2E67F-913E-0765-165B-FDDF3C17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567B77-793B-602F-F03C-39B50DEA4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79603-B833-E643-E0E1-56B917255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E634B-738F-41B2-9BA4-2559C1443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73816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1FD9E-CEE5-C6D3-78B7-108E21247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247E6-8D12-5D16-A202-A0B903535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AB9418-8E86-9739-AC78-188B82645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29798-F2B9-EDB7-E179-3A1D157B2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9808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ESlide</a:t>
            </a:r>
            <a:r>
              <a:rPr lang="en-US" dirty="0"/>
              <a:t> </a:t>
            </a:r>
            <a:r>
              <a:rPr lang="en-US" b="0" dirty="0" err="1"/>
              <a:t>O</a:t>
            </a:r>
            <a:r>
              <a:rPr lang="en-US" b="1" dirty="0" err="1"/>
              <a:t>n</a:t>
            </a:r>
            <a:r>
              <a:rPr lang="en-US" dirty="0" err="1"/>
              <a:t>.emf</a:t>
            </a:r>
            <a:r>
              <a:rPr lang="en-US" dirty="0"/>
              <a:t>, with n, from back to front, 3, 6, 2, 5, 4,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8085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CSlides.R</a:t>
            </a:r>
            <a:r>
              <a:rPr lang="en-US" dirty="0"/>
              <a:t>   Saved from </a:t>
            </a:r>
            <a:r>
              <a:rPr lang="en-US" dirty="0" err="1"/>
              <a:t>Rstudio</a:t>
            </a:r>
            <a:r>
              <a:rPr lang="en-US" dirty="0"/>
              <a:t> window as PNG, 1161 x 654</a:t>
            </a:r>
          </a:p>
          <a:p>
            <a:r>
              <a:rPr lang="en-US" dirty="0"/>
              <a:t>Here, 54% locked, horizontal 4.18” vertical 0.68” from top left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15685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30177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R: </a:t>
            </a:r>
            <a:r>
              <a:rPr lang="en-US" dirty="0" err="1"/>
              <a:t>Cslides.R</a:t>
            </a:r>
            <a:r>
              <a:rPr lang="en-US" dirty="0"/>
              <a:t>   </a:t>
            </a:r>
            <a:r>
              <a:rPr lang="en-US" dirty="0" err="1"/>
              <a:t>devEMF</a:t>
            </a:r>
            <a:r>
              <a:rPr lang="en-US" dirty="0"/>
              <a:t>::emf(height=2.5,width=11)   </a:t>
            </a:r>
          </a:p>
          <a:p>
            <a:r>
              <a:rPr lang="en-US" dirty="0"/>
              <a:t>Here, 91% locked, horizontal 0 vertical 3.27” from top left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515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1B839-3323-2E21-AAB4-B6DE2CABA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3C249-0BDB-EEEC-AF24-F814D0823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3A986F-2895-57E5-3F76-6E88C481F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Nobel was for </a:t>
            </a:r>
            <a:r>
              <a:rPr lang="en-US" b="1" dirty="0"/>
              <a:t>“theory of stable allocations </a:t>
            </a:r>
            <a:r>
              <a:rPr lang="en-US" dirty="0"/>
              <a:t>and the practice of market design”    Nobel 59 years after PhD, Princeton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71E5F-98F4-B59B-2246-3CC3BCB85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757555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1DA6-5116-B4E6-0B2D-5D4EB9697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E9148-18E0-82DC-AC14-E88C5ADD5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B9B95-3758-D50B-7D29-D9A6289DF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Nobel was for </a:t>
            </a:r>
            <a:r>
              <a:rPr lang="en-US" b="1" dirty="0"/>
              <a:t>“theory of stable allocations </a:t>
            </a:r>
            <a:r>
              <a:rPr lang="en-US" dirty="0"/>
              <a:t>and the practice of market design”    Nobel 59 years after PhD, Princeton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997E4-4AE8-CA28-C2DB-771C959CB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22104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08529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53B2C-7112-759F-BF5E-2B4D07194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9E999D-EBF3-D50F-57CB-4481FE897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09D58-03B3-8A33-6225-201A5A794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3EE02-B15F-47A4-7E46-907990987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4842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20291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825631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Almost all scatterplots:   </a:t>
            </a:r>
            <a:r>
              <a:rPr lang="en-US" dirty="0" err="1"/>
              <a:t>devEMF</a:t>
            </a:r>
            <a:r>
              <a:rPr lang="en-US" dirty="0"/>
              <a:t>::emf(width=8), paste here at 77% locked,  3.9“ horizontal and  0.1“ vertical from top left.</a:t>
            </a:r>
          </a:p>
          <a:p>
            <a:r>
              <a:rPr lang="en-US" dirty="0"/>
              <a:t>Works 1pre.emf</a:t>
            </a:r>
          </a:p>
          <a:p>
            <a:r>
              <a:rPr lang="en-US" dirty="0"/>
              <a:t>Vs 20 trillion all-orderings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41274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A2F83-932C-8BC4-00F8-9B7FE2CF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2B89A9-657A-0EAA-FA9D-0ED1955D0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435F91-B7AF-8909-748B-7E24D4086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Almost all scatterplots:   </a:t>
            </a:r>
            <a:r>
              <a:rPr lang="en-US" dirty="0" err="1"/>
              <a:t>devEMF</a:t>
            </a:r>
            <a:r>
              <a:rPr lang="en-US" dirty="0"/>
              <a:t>::emf(width=8), paste here at 77% locked,  3.9“ horizontal and  0.1“ vertical from top left.</a:t>
            </a:r>
          </a:p>
          <a:p>
            <a:r>
              <a:rPr lang="en-US" dirty="0"/>
              <a:t>Works 1pre.emf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54244-901E-9734-7DDD-F7E29413E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61564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CB06D-2421-89AD-32D2-C147BFC32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82107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2EC62-85B0-22BB-1A87-D4FD942F0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071A1-67A7-802E-DC81-87F79DCDB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E69C5-2F62-0E24-7033-F29849A86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20X to 150X larger random to perform like a COA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E2E05-1E96-49C4-7AFC-09046ECD6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45935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46713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580EF-636D-1FC5-0848-B03AE8553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8CC38-38E9-5C4E-1B7C-26BC85E0E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7404D9-C11E-B70B-1473-062FCFF72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83107-F15A-7888-61C3-E2429AB3D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12270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94FA3-AFCC-ABDE-33EF-8A2F4796A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1AB74B-E762-F29A-F610-73A403EC4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2C239-DDB1-7108-4F15-D17439E81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80%, 0.4, 2.3     from emf(width=12,height=4)     excess100.emf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59B3A-D79C-AEA8-8FEE-C99C30993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40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89296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41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43888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6D7DF-09CE-F91E-A594-703903B37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2C10F-3776-3550-26CD-AAFF8E813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8FDB4-6479-70D5-FBAC-41DE48032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D04D3-0722-29A6-838A-FF6460DB9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55588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LearnKU2.emf, 77%, 3.9 0.1 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44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94552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Learn4upF.emf, 68%, 1.8 0.6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740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77%, 3.9, 0.1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46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67027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26E7C-E14E-AB69-00BE-0116B0BB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25ECA4-6AAD-4AB6-176E-109C1512A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47168-BB63-D2A9-174F-8E7FC1E19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A7A8D-71A9-78AA-2717-0D2D764EA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52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62158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E178F-F130-F4ED-761F-1B94BD700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5F2CD-C9F0-54A7-E32E-842A46508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054AC-131F-DA6A-F1FC-5C474730D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281A2-CDA5-120C-20A1-C560E0133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53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597340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54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10051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55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88919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79B30-F7FC-BD74-777C-5BA6B396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289F1-F329-73DC-BA49-324B8157F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3105D-5CE5-429F-F89F-8016FDB04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MD2ana.emf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12768-0159-86B2-488F-37D7FA310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56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56209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A827D-300C-878C-5B73-88DCFA55F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88E9C8-7A97-F34F-EB9F-27447E5B0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E2696-66E6-327E-F821-260569261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MD2aanch.emf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17779-A9DB-2351-A3E7-66295B8F6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57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82075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F7B87-4AAD-94E5-AE7B-5ACC64846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87079-EBB3-DD2B-0157-5082AC055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481CF-9F8E-E609-FF3B-72D255812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19CF7-9CCA-9F9D-8AF8-302B88F9D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58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16713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5A1B2-938D-EBC3-9D1B-54732E871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E3D4C-8112-319F-6ED3-B8B56C936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792E10-EC3E-585A-AA01-6D59033FB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E6970-AE88-5F86-CEF6-9272CE2AE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60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936178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D1516-3123-0C6E-EC72-9EE36A543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D47CA-492E-1BC1-23AF-CF50B5E4E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CAF04B-2F00-09DA-CDD4-6C0AB04E7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MD3ana4.emf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01213-FD0F-EAC6-B701-1AFD1F644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61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767811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73E26-70CF-AD31-BA94-2639B5F4B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68A7E-58BE-9144-1E97-FE512D069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DCA15-1C6D-4FDE-FB8B-C0BC505B6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MD3cna.emf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5DD85-413A-2D0E-E13B-EC0F6F2D43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62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270513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B58F1-F7CC-5769-0B95-0B0FEAFBE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768975-E6E1-7C07-1A64-DCB1ABF02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631D8-BC48-031A-D58A-E3B41ED6E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MD3canch.emf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EE399-8C98-5157-A29E-66848A7FC6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63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98740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64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26989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20B6C-C307-807E-1B34-C3770706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F27AA-788B-AA10-E440-453878F3B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D9430-3A86-BC6E-ECD7-4CFF9ED89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094E2-7F95-A7D6-5B27-C96D498A1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66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903718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4C42-167C-CFAE-DCF8-7A56B1C8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47241-08BE-5A43-0B58-1804BC994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A4FE1-84F2-E4C1-C818-2E27A973B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CB999-A7C9-B0E0-39E7-B6D252B7B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70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36288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B4639-0109-F09A-25A9-9ECDBAB65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A3227-3F2E-9626-1E53-BAEE4F6C3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06978-0C0D-5BB0-DBDF-3FE5923C1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2018 leftover – need to merge with next, and tie back to rest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855DC-A775-5C05-22D1-1AF463B67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71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62815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4D25B-E9AE-DDD9-F551-35DD1C13D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9E3FB-DBF6-594B-38E4-DFEB3B270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2C398-FD1E-A77A-ED2A-654413BD5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E3002-1349-285D-4D19-0478AC7CC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72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877894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73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867836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DEBF5-EB80-8457-6DFA-39519B721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35F26-207A-10B8-FBF3-58B2B5790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E40FB-A70B-A229-AD73-0D55CF28D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2BEA6-DBFE-C8AD-1639-127CA218F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74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767683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CCCFC-3E60-C41D-189D-7F290E242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3CB63-007A-0F54-E3D8-3BD49E81F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90729B-3891-D265-B5B6-C2CBD6B2E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86393-5807-D13D-3907-826A83A8C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75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9171888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all routines for other features worth mentioning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80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048004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A07FB-6C8A-A6AE-0071-7671816C2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7A2B1-96D1-B7F5-2DEF-64EC62624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625D3-457F-AC92-D56A-C3CED6075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all routines for other features worth mentioning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D7A35-A54C-3F91-0EFF-3A51B0151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81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934575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82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156870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83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737838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D35B-DD71-F664-BDEA-EB5384E42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963EC-37BC-D47D-6DD4-0620DBE4B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EC4060-947B-88E8-5292-2BB7C8F6A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7D47D-042E-264D-59DD-1D0323ADF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84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81237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3D1AA-BC66-5933-B298-E0A640018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EFDE13-E89B-C806-CEE2-FD482279D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0E39D-6DBA-7AA3-2163-DAA896EA7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203-variable KDR, 70-variable logistic regression, </a:t>
            </a:r>
            <a:r>
              <a:rPr lang="en-US" dirty="0" err="1"/>
              <a:t>relaimpo</a:t>
            </a:r>
            <a:r>
              <a:rPr lang="en-US" dirty="0"/>
              <a:t> plus mine, etc., etc.</a:t>
            </a:r>
          </a:p>
          <a:p>
            <a:r>
              <a:rPr lang="en-US" dirty="0"/>
              <a:t>Observe KDRs are n^5 problem, TURFs are n^3 (unless the hypergeometric trick works)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53CC1-618C-8180-C09D-01384B51E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85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40646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E76C4-3D1E-9CD5-BE07-F2F228F5D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EB41D-C712-7C03-3285-F09AEE955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C729E-DDCE-9CD1-4F6A-E043296BB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203-variable KDR, 70-variable logistic regression, </a:t>
            </a:r>
            <a:r>
              <a:rPr lang="en-US" dirty="0" err="1"/>
              <a:t>relaimpo</a:t>
            </a:r>
            <a:r>
              <a:rPr lang="en-US" dirty="0"/>
              <a:t> plus mine, etc., etc.</a:t>
            </a:r>
          </a:p>
          <a:p>
            <a:r>
              <a:rPr lang="en-US" dirty="0"/>
              <a:t>Observe KDRs are n^5 problem, TURFs are n^3 (unless the hypergeometric trick works)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C624F-9009-CA42-0D51-D0E5F1FC6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86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294874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8A71F-DEAA-6F37-C5FD-D1B0B7F44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E3F21-6EA0-00A9-6FFD-19A026EFE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25D40-6963-5227-1D16-07E8B212F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3A109-03C0-1201-28E1-ED825EE1D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87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733180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26A1B-163B-794D-36D1-B6687350D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9733E-C675-22E7-DC7B-AADEA535D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9777E-0A11-3B4F-A8E7-EB8471B36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203-variable KDR, 70-variable logistic regression, </a:t>
            </a:r>
            <a:r>
              <a:rPr lang="en-US" dirty="0" err="1"/>
              <a:t>relaimpo</a:t>
            </a:r>
            <a:r>
              <a:rPr lang="en-US" dirty="0"/>
              <a:t> plus mine, etc., etc.</a:t>
            </a:r>
          </a:p>
          <a:p>
            <a:r>
              <a:rPr lang="en-US" dirty="0"/>
              <a:t>Observe KDRs are n^5 problem, TURFs are n^3 (unless the hypergeometric trick works)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2CB46-29DB-AD92-575E-D50A1E62B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88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07324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C91A6-B3BE-2B8B-9F1F-D80653287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A833C-6DF9-40CD-A627-2C94DE7FE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2DB1B-E2B4-CAC5-C4F3-EE3390144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2EBA3-5E68-926A-59CE-1856B7DC7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89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78221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19018-DBD9-5E26-72D4-06DBEB79F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21BDB-4042-4EBC-1860-6409C7928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38BCB-A673-8C81-A410-9EBB50B15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16A1C-330C-BA96-A128-569562F29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90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227080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203-variable KDR, 70-variable logistic regression, </a:t>
            </a:r>
            <a:r>
              <a:rPr lang="en-US" dirty="0" err="1"/>
              <a:t>relaimpo</a:t>
            </a:r>
            <a:r>
              <a:rPr lang="en-US" dirty="0"/>
              <a:t> plus mine, etc., etc.</a:t>
            </a:r>
          </a:p>
          <a:p>
            <a:r>
              <a:rPr lang="en-US" dirty="0"/>
              <a:t>Observe KDRs are n^5 problem, TURFs are n^3 (unless the hypergeometric trick works)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91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319904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97686-145B-098B-E45A-A4CF2BF3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01745-D4A4-3225-35DC-1B0F324BB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A7AF1-49B6-8B06-8E81-A903271FB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91%, 0, 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156A8-CF36-9AB3-89E8-5C678D278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92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83805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1D13D-7EA6-15B2-CAE2-FBD8DB0C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C9EBFE-F44A-B813-4A7D-7A180ABD6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E46CF-0310-1EC9-9F10-BAFEBF9B7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203-variable KDR, 70-variable logistic regression, </a:t>
            </a:r>
            <a:r>
              <a:rPr lang="en-US" dirty="0" err="1"/>
              <a:t>relaimpo</a:t>
            </a:r>
            <a:r>
              <a:rPr lang="en-US" dirty="0"/>
              <a:t> plus mine, etc., etc.</a:t>
            </a:r>
          </a:p>
          <a:p>
            <a:r>
              <a:rPr lang="en-US" dirty="0"/>
              <a:t>Observe KDRs are n^5 problem, TURFs are n^3 (unless the hypergeometric trick works)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9D666-8256-506A-70AC-C08FCAFEF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93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575729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F62AA-8324-EA96-8C14-D57C087CE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71E8C-3BC4-C636-5AB2-C0E1DA5C6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7B3E6-AD9E-4905-DBA2-5D6711A35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54702-4724-EC30-3041-747CE5E49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94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842945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375FC-EE9E-8321-F478-48F127697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6F31E-68BA-8D0D-3284-B813B29AD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AFF54-CC6F-D9AA-4D8E-10694854A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27E70-DC42-F942-C520-66974117C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95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507895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A8030-27BF-63C9-E02D-DA1001E0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F131F8-3894-E9CD-1492-978F0D552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63985-C338-22DA-19A9-A42617DA0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4A014-8CB7-CB4E-6CE3-C3C76E72A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97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271462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90E68-FBE4-EED4-CDB7-6872F5E0C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D8A77-CE3F-418F-FC01-7EFB6CEF4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6E535-CD72-AC7E-E6FC-4C5A8B200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C989D-1EF0-CD2D-2AA7-3A74E5B1A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98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878765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99A6B-5FB5-D8D6-240C-3664DEDB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B793A-298C-42E2-E33D-4E17F3B74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CCCD2-4442-DEC0-E508-01E0566CC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809BD-5A54-07C7-1DDF-54890A531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4FE2F-1C8A-4F9A-BF5B-BEA0CBA0CD4F}" type="slidenum">
              <a:rPr lang="nl-NL" smtClean="0"/>
              <a:pPr/>
              <a:t>99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0498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6915" y="400050"/>
            <a:ext cx="7742237" cy="391257"/>
          </a:xfrm>
        </p:spPr>
        <p:txBody>
          <a:bodyPr>
            <a:noAutofit/>
          </a:bodyPr>
          <a:lstStyle/>
          <a:p>
            <a:r>
              <a:rPr lang="en-US" noProof="0" dirty="0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6915" y="1186961"/>
            <a:ext cx="7742237" cy="3163583"/>
          </a:xfrm>
        </p:spPr>
        <p:txBody>
          <a:bodyPr>
            <a:noAutofit/>
          </a:bodyPr>
          <a:lstStyle>
            <a:lvl3pPr marL="985838" indent="-179388">
              <a:buClr>
                <a:schemeClr val="accent1"/>
              </a:buClr>
              <a:buFont typeface="Lucida Grande"/>
              <a:buChar char="»"/>
              <a:defRPr/>
            </a:lvl3pPr>
            <a:lvl4pPr marL="1433513" indent="-179388">
              <a:buClr>
                <a:schemeClr val="accent1"/>
              </a:buClr>
              <a:buFont typeface="Lucida Grande"/>
              <a:buChar char="»"/>
              <a:defRPr sz="1400"/>
            </a:lvl4pPr>
            <a:lvl5pPr marL="1792288" indent="-179388">
              <a:buClr>
                <a:schemeClr val="accent1"/>
              </a:buClr>
              <a:buFont typeface="Lucida Grande"/>
              <a:buChar char="»"/>
              <a:defRPr sz="1200"/>
            </a:lvl5pPr>
          </a:lstStyle>
          <a:p>
            <a:pPr lvl="0"/>
            <a:r>
              <a:rPr lang="en-US" noProof="0" dirty="0"/>
              <a:t>Click to edit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4889550"/>
            <a:ext cx="1043609" cy="253950"/>
          </a:xfrm>
          <a:solidFill>
            <a:srgbClr val="00FF99"/>
          </a:solidFill>
        </p:spPr>
        <p:txBody>
          <a:bodyPr/>
          <a:lstStyle>
            <a:lvl1pPr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5094B349-2FA9-4691-A40D-829E22088964}" type="slidenum">
              <a:rPr lang="en-US" smtClean="0"/>
              <a:pPr/>
              <a:t>‹#›</a:t>
            </a:fld>
            <a:endParaRPr lang="en-US" sz="1200" dirty="0"/>
          </a:p>
        </p:txBody>
      </p:sp>
      <p:sp>
        <p:nvSpPr>
          <p:cNvPr id="5" name="Slide Number Placeholder 3"/>
          <p:cNvSpPr txBox="1">
            <a:spLocks/>
          </p:cNvSpPr>
          <p:nvPr userDrawn="1"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256039404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Content in Two Colum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96915" y="1187055"/>
            <a:ext cx="3522663" cy="3163490"/>
          </a:xfrm>
        </p:spPr>
        <p:txBody>
          <a:bodyPr lIns="0" tIns="0" rIns="0" bIns="0"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924426" y="1187055"/>
            <a:ext cx="3514725" cy="316349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D7D411-04C0-43DB-8C1D-8991A841042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2007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in Two Colum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96916" y="1190677"/>
            <a:ext cx="2116623" cy="316151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0462" y="1190677"/>
            <a:ext cx="2108690" cy="316151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D7D411-04C0-43DB-8C1D-8991A841042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3516923" y="1190677"/>
            <a:ext cx="2110154" cy="316151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965490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in Two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96914" y="1187055"/>
            <a:ext cx="4930774" cy="316349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D7D411-04C0-43DB-8C1D-8991A841042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5" name="Text Placeholder 2"/>
          <p:cNvSpPr>
            <a:spLocks noGrp="1"/>
          </p:cNvSpPr>
          <p:nvPr>
            <p:ph type="body" sz="half" idx="11" hasCustomPrompt="1"/>
          </p:nvPr>
        </p:nvSpPr>
        <p:spPr>
          <a:xfrm>
            <a:off x="6330951" y="1187055"/>
            <a:ext cx="2108200" cy="316349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541151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in Two Colum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D7D411-04C0-43DB-8C1D-8991A841042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3516314" y="1187055"/>
            <a:ext cx="4922838" cy="316349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0" name="Text Placeholder 2"/>
          <p:cNvSpPr>
            <a:spLocks noGrp="1"/>
          </p:cNvSpPr>
          <p:nvPr>
            <p:ph type="body" sz="half" idx="12" hasCustomPrompt="1"/>
          </p:nvPr>
        </p:nvSpPr>
        <p:spPr>
          <a:xfrm>
            <a:off x="696914" y="1187053"/>
            <a:ext cx="2108200" cy="316349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554410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K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6915" y="400050"/>
            <a:ext cx="7742237" cy="391716"/>
          </a:xfrm>
        </p:spPr>
        <p:txBody>
          <a:bodyPr anchor="t">
            <a:noAutofit/>
          </a:bodyPr>
          <a:lstStyle>
            <a:lvl1pPr>
              <a:defRPr sz="28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6915" y="1187054"/>
            <a:ext cx="7742237" cy="2374106"/>
          </a:xfrm>
        </p:spPr>
        <p:txBody>
          <a:bodyPr/>
          <a:lstStyle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094B349-2FA9-4691-A40D-829E2208896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65" name="Text Placeholder 264"/>
          <p:cNvSpPr>
            <a:spLocks noGrp="1"/>
          </p:cNvSpPr>
          <p:nvPr>
            <p:ph type="body" sz="quarter" idx="11" hasCustomPrompt="1"/>
          </p:nvPr>
        </p:nvSpPr>
        <p:spPr>
          <a:xfrm>
            <a:off x="696914" y="3956448"/>
            <a:ext cx="7743825" cy="395287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buNone/>
              <a:defRPr sz="2800" b="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3591952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in Two Columns and K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6915" y="400050"/>
            <a:ext cx="7742237" cy="39171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800" b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6914" y="1187054"/>
            <a:ext cx="3522662" cy="2374106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094B349-2FA9-4691-A40D-829E2208896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65" name="Text Placeholder 264"/>
          <p:cNvSpPr>
            <a:spLocks noGrp="1"/>
          </p:cNvSpPr>
          <p:nvPr>
            <p:ph type="body" sz="quarter" idx="11" hasCustomPrompt="1"/>
          </p:nvPr>
        </p:nvSpPr>
        <p:spPr>
          <a:xfrm>
            <a:off x="696914" y="3956448"/>
            <a:ext cx="7743825" cy="395287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buNone/>
              <a:defRPr sz="2800" b="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2" name="Content Placeholder 2"/>
          <p:cNvSpPr>
            <a:spLocks noGrp="1"/>
          </p:cNvSpPr>
          <p:nvPr>
            <p:ph idx="12" hasCustomPrompt="1"/>
          </p:nvPr>
        </p:nvSpPr>
        <p:spPr>
          <a:xfrm>
            <a:off x="4916488" y="1187054"/>
            <a:ext cx="3522662" cy="2374106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946794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6D75A1-0CAB-4635-8D5F-5993BFDE48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20568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8D0DEC-F0EC-4271-9DCB-4FE9D78CBA7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7692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6915" y="1582801"/>
            <a:ext cx="3522663" cy="2767743"/>
          </a:xfrm>
        </p:spPr>
        <p:txBody>
          <a:bodyPr tIns="144000"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4426" y="1582801"/>
            <a:ext cx="3514725" cy="2767743"/>
          </a:xfrm>
        </p:spPr>
        <p:txBody>
          <a:bodyPr tIns="144000"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D7D411-04C0-43DB-8C1D-8991A841042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1" hasCustomPrompt="1"/>
          </p:nvPr>
        </p:nvSpPr>
        <p:spPr>
          <a:xfrm>
            <a:off x="696913" y="1186594"/>
            <a:ext cx="3522662" cy="39646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2000" b="0" baseline="0">
                <a:solidFill>
                  <a:schemeClr val="tx2"/>
                </a:solidFill>
              </a:defRPr>
            </a:lvl1pPr>
            <a:lvl2pPr marL="447675" indent="0">
              <a:buNone/>
              <a:defRPr sz="2800"/>
            </a:lvl2pPr>
            <a:lvl3pPr marL="806450" indent="0">
              <a:buNone/>
              <a:defRPr sz="2800"/>
            </a:lvl3pPr>
            <a:lvl4pPr marL="1254125" indent="0">
              <a:buNone/>
              <a:defRPr sz="2800"/>
            </a:lvl4pPr>
            <a:lvl5pPr marL="1612900" indent="0">
              <a:buNone/>
              <a:defRPr sz="2800"/>
            </a:lvl5pPr>
          </a:lstStyle>
          <a:p>
            <a:pPr lvl="0"/>
            <a:r>
              <a:rPr lang="en-US" noProof="0" dirty="0"/>
              <a:t>Click to edit Header</a:t>
            </a:r>
          </a:p>
        </p:txBody>
      </p:sp>
      <p:sp>
        <p:nvSpPr>
          <p:cNvPr id="9" name="Tijdelijke aanduiding voor tekst 7"/>
          <p:cNvSpPr>
            <a:spLocks noGrp="1"/>
          </p:cNvSpPr>
          <p:nvPr>
            <p:ph type="body" sz="quarter" idx="12" hasCustomPrompt="1"/>
          </p:nvPr>
        </p:nvSpPr>
        <p:spPr>
          <a:xfrm>
            <a:off x="4916488" y="1186594"/>
            <a:ext cx="3522662" cy="39646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2000" b="0" baseline="0">
                <a:solidFill>
                  <a:schemeClr val="tx2"/>
                </a:solidFill>
              </a:defRPr>
            </a:lvl1pPr>
            <a:lvl2pPr marL="447675" indent="0">
              <a:buNone/>
              <a:defRPr sz="2800"/>
            </a:lvl2pPr>
            <a:lvl3pPr marL="806450" indent="0">
              <a:buNone/>
              <a:defRPr sz="2800"/>
            </a:lvl3pPr>
            <a:lvl4pPr marL="1254125" indent="0">
              <a:buNone/>
              <a:defRPr sz="2800"/>
            </a:lvl4pPr>
            <a:lvl5pPr marL="1612900" indent="0">
              <a:buNone/>
              <a:defRPr sz="2800"/>
            </a:lvl5pPr>
          </a:lstStyle>
          <a:p>
            <a:pPr lvl="0"/>
            <a:r>
              <a:rPr lang="en-US" noProof="0"/>
              <a:t>Click to edit Header</a:t>
            </a:r>
          </a:p>
        </p:txBody>
      </p:sp>
    </p:spTree>
    <p:extLst>
      <p:ext uri="{BB962C8B-B14F-4D97-AF65-F5344CB8AC3E}">
        <p14:creationId xmlns:p14="http://schemas.microsoft.com/office/powerpoint/2010/main" val="280362856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073501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9266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344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2289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0167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755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95201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4414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04851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723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4DC1-73F2-4627-88FE-DAD3CFD46ED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2317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216" name="Rectangle 384"/>
          <p:cNvSpPr>
            <a:spLocks noGrp="1" noChangeArrowheads="1"/>
          </p:cNvSpPr>
          <p:nvPr>
            <p:ph type="title"/>
          </p:nvPr>
        </p:nvSpPr>
        <p:spPr bwMode="auto">
          <a:xfrm>
            <a:off x="696915" y="400051"/>
            <a:ext cx="7742237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 dirty="0"/>
              <a:t>Click to edit</a:t>
            </a:r>
          </a:p>
        </p:txBody>
      </p:sp>
      <p:sp>
        <p:nvSpPr>
          <p:cNvPr id="1017217" name="Rectangle 38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6915" y="1186961"/>
            <a:ext cx="7742237" cy="3163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noProof="0" dirty="0"/>
              <a:t>Click to edit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17218" name="Rectangle 38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4889550"/>
            <a:ext cx="9144000" cy="253950"/>
          </a:xfrm>
          <a:prstGeom prst="rect">
            <a:avLst/>
          </a:prstGeom>
          <a:solidFill>
            <a:srgbClr val="00FF99">
              <a:alpha val="83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spcBef>
                <a:spcPct val="0"/>
              </a:spcBef>
              <a:spcAft>
                <a:spcPct val="0"/>
              </a:spcAft>
              <a:defRPr sz="1400" b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D6B2546D-D17B-417A-B1D0-EBC78EF02C60}" type="slidenum">
              <a:rPr lang="en-US" smtClean="0"/>
              <a:pPr/>
              <a:t>‹#›</a:t>
            </a:fld>
            <a:r>
              <a:rPr lang="en-US" dirty="0"/>
              <a:t>                          2016 </a:t>
            </a:r>
            <a:r>
              <a:rPr lang="en-US" dirty="0" err="1"/>
              <a:t>Sawtooth</a:t>
            </a:r>
            <a:r>
              <a:rPr lang="en-US" dirty="0"/>
              <a:t> Software Conference                         Lyon: Naive Bayes Classifiers for </a:t>
            </a:r>
            <a:r>
              <a:rPr lang="en-US" dirty="0" err="1"/>
              <a:t>MaxDiff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310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37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</p:sldLayoutIdLst>
  <p:transition spd="med"/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>
          <a:solidFill>
            <a:schemeClr val="tx2"/>
          </a:solidFill>
          <a:effectLst/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Clr>
          <a:schemeClr val="accent1"/>
        </a:buClr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Clr>
          <a:schemeClr val="accent1"/>
        </a:buClr>
        <a:buFont typeface="Arial"/>
        <a:buChar char="•"/>
        <a:defRPr sz="1800">
          <a:solidFill>
            <a:schemeClr val="tx1"/>
          </a:solidFill>
          <a:latin typeface="+mn-lt"/>
          <a:cs typeface="+mn-cs"/>
        </a:defRPr>
      </a:lvl2pPr>
      <a:lvl3pPr marL="985838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Clr>
          <a:schemeClr val="accent1"/>
        </a:buClr>
        <a:buFont typeface="Arial"/>
        <a:buChar char="•"/>
        <a:defRPr sz="1600">
          <a:solidFill>
            <a:schemeClr val="tx1"/>
          </a:solidFill>
          <a:latin typeface="+mn-lt"/>
          <a:cs typeface="+mn-cs"/>
        </a:defRPr>
      </a:lvl3pPr>
      <a:lvl4pPr marL="1433513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Clr>
          <a:schemeClr val="accent1"/>
        </a:buClr>
        <a:buFont typeface="Arial"/>
        <a:buChar char="•"/>
        <a:defRPr sz="1400">
          <a:solidFill>
            <a:schemeClr val="tx1"/>
          </a:solidFill>
          <a:latin typeface="+mn-lt"/>
          <a:cs typeface="+mn-cs"/>
        </a:defRPr>
      </a:lvl4pPr>
      <a:lvl5pPr marL="1792288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Clr>
          <a:schemeClr val="accent1"/>
        </a:buClr>
        <a:buFont typeface="Arial"/>
        <a:buChar char="•"/>
        <a:defRPr sz="1200">
          <a:solidFill>
            <a:schemeClr val="tx1"/>
          </a:solidFill>
          <a:latin typeface="+mn-lt"/>
          <a:cs typeface="+mn-cs"/>
        </a:defRPr>
      </a:lvl5pPr>
      <a:lvl6pPr marL="2249488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Font typeface="Arial Unicode MS" pitchFamily="34" charset="-128"/>
        <a:buChar char="-"/>
        <a:defRPr sz="1400">
          <a:solidFill>
            <a:schemeClr val="tx1"/>
          </a:solidFill>
          <a:latin typeface="+mn-lt"/>
          <a:cs typeface="+mn-cs"/>
        </a:defRPr>
      </a:lvl6pPr>
      <a:lvl7pPr marL="2706688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Font typeface="Arial Unicode MS" pitchFamily="34" charset="-128"/>
        <a:buChar char="-"/>
        <a:defRPr sz="1400">
          <a:solidFill>
            <a:schemeClr val="tx1"/>
          </a:solidFill>
          <a:latin typeface="+mn-lt"/>
          <a:cs typeface="+mn-cs"/>
        </a:defRPr>
      </a:lvl7pPr>
      <a:lvl8pPr marL="3163888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Font typeface="Arial Unicode MS" pitchFamily="34" charset="-128"/>
        <a:buChar char="-"/>
        <a:defRPr sz="1400">
          <a:solidFill>
            <a:schemeClr val="tx1"/>
          </a:solidFill>
          <a:latin typeface="+mn-lt"/>
          <a:cs typeface="+mn-cs"/>
        </a:defRPr>
      </a:lvl8pPr>
      <a:lvl9pPr marL="3621088" indent="-179388" algn="l" rtl="0" eaLnBrk="1" fontAlgn="base" hangingPunct="1">
        <a:lnSpc>
          <a:spcPct val="110000"/>
        </a:lnSpc>
        <a:spcBef>
          <a:spcPct val="10000"/>
        </a:spcBef>
        <a:spcAft>
          <a:spcPct val="10000"/>
        </a:spcAft>
        <a:buFont typeface="Arial Unicode MS" pitchFamily="34" charset="-128"/>
        <a:buChar char="-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14DC1-73F2-4627-88FE-DAD3CFD46ED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7963C-B083-452E-A4BB-58603584F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11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ransition spd="med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3.emf"/><Relationship Id="rId2" Type="http://schemas.microsoft.com/office/2007/relationships/media" Target="../media/media1.m4a"/><Relationship Id="rId1" Type="http://schemas.openxmlformats.org/officeDocument/2006/relationships/audio" Target="NULL" TargetMode="External"/><Relationship Id="rId6" Type="http://schemas.openxmlformats.org/officeDocument/2006/relationships/image" Target="../media/image12.emf"/><Relationship Id="rId11" Type="http://schemas.openxmlformats.org/officeDocument/2006/relationships/image" Target="../media/image17.png"/><Relationship Id="rId5" Type="http://schemas.openxmlformats.org/officeDocument/2006/relationships/image" Target="../media/image11.emf"/><Relationship Id="rId10" Type="http://schemas.openxmlformats.org/officeDocument/2006/relationships/image" Target="../media/image16.emf"/><Relationship Id="rId4" Type="http://schemas.openxmlformats.org/officeDocument/2006/relationships/notesSlide" Target="../notesSlides/notesSlide14.xml"/><Relationship Id="rId9" Type="http://schemas.openxmlformats.org/officeDocument/2006/relationships/image" Target="../media/image1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2.png"/><Relationship Id="rId3" Type="http://schemas.openxmlformats.org/officeDocument/2006/relationships/image" Target="../media/image26.png"/><Relationship Id="rId7" Type="http://schemas.microsoft.com/office/2007/relationships/hdphoto" Target="../media/hdphoto2.wdp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microsoft.com/office/2007/relationships/hdphoto" Target="../media/hdphoto4.wdp"/><Relationship Id="rId5" Type="http://schemas.openxmlformats.org/officeDocument/2006/relationships/image" Target="../media/image27.png"/><Relationship Id="rId15" Type="http://schemas.openxmlformats.org/officeDocument/2006/relationships/image" Target="../media/image34.png"/><Relationship Id="rId10" Type="http://schemas.openxmlformats.org/officeDocument/2006/relationships/image" Target="../media/image30.png"/><Relationship Id="rId4" Type="http://schemas.microsoft.com/office/2007/relationships/hdphoto" Target="../media/hdphoto1.wdp"/><Relationship Id="rId9" Type="http://schemas.microsoft.com/office/2007/relationships/hdphoto" Target="../media/hdphoto3.wdp"/><Relationship Id="rId1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3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rc.org/research/projects/gss.html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915" y="546411"/>
            <a:ext cx="7742237" cy="4103648"/>
          </a:xfrm>
        </p:spPr>
        <p:txBody>
          <a:bodyPr/>
          <a:lstStyle/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 algn="ctr">
              <a:buNone/>
            </a:pP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</a:rPr>
              <a:t>Shapley Values for </a:t>
            </a:r>
            <a:r>
              <a:rPr lang="en-US" sz="4800" b="1" dirty="0">
                <a:solidFill>
                  <a:schemeClr val="accent4">
                    <a:lumMod val="50000"/>
                  </a:schemeClr>
                </a:solidFill>
              </a:rPr>
              <a:t>Large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</a:rPr>
              <a:t> Problems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2026 Sawtooth Research Conference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Berlin                                  May 6, 2026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David W. Lyon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Principal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Aurora Market Modeling, LLC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DLyon@Aurora2000.com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1</a:t>
            </a:fld>
            <a:endParaRPr lang="en-US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8820614" y="4496170"/>
            <a:ext cx="234176" cy="261610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1802275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914" y="878543"/>
            <a:ext cx="7742237" cy="3482836"/>
          </a:xfrm>
          <a:solidFill>
            <a:schemeClr val="bg1"/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Shapley Values:  Intro, intuition and meaning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Component Order of Addition (COA) </a:t>
            </a:r>
            <a:r>
              <a:rPr lang="en-US" dirty="0"/>
              <a:t>designs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Computation problems that COAs solve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Do COAs work?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Properties and issues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When Are Shapley Values Informative?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When do Shapley Values add information/value?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Size-Limited Shapley Values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TURF on MaxDiff </a:t>
            </a:r>
            <a:r>
              <a:rPr lang="en-US" dirty="0"/>
              <a:t>– options, problems, evidence from SVs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dirty="0"/>
              <a:t>Wrapping Up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dirty="0"/>
              <a:t>Appendix: Design Catalog, Software and Timings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3243115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CB2AB-5D45-9ABA-5836-11ABABF2E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8352-2AA0-E99D-B326-A2A46505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1B043-17EF-EE6D-DDB3-85E83DEAA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5" y="1089164"/>
            <a:ext cx="7742237" cy="3482836"/>
          </a:xfrm>
          <a:solidFill>
            <a:schemeClr val="bg1"/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Thank you </a:t>
            </a:r>
            <a:r>
              <a:rPr lang="en-US" dirty="0"/>
              <a:t>to helpful colleagues who provided large datasets to test: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Anonymous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Tom Eagle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Marco </a:t>
            </a:r>
            <a:r>
              <a:rPr lang="en-US" dirty="0" err="1"/>
              <a:t>Hoogerbrugge</a:t>
            </a:r>
            <a:endParaRPr lang="en-US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Richard McCullough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Trevor Olsen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Cynthia Sahm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The author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See references for 2 publicly available datasets (“GSS” &amp; “2K5”)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AB40D-FD65-79FF-E334-D7C78D524F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4316089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4F9A2-21D9-AED9-F934-36879C307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B024B-C095-B5B1-8453-4E8697C869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4</a:t>
            </a:fld>
            <a:endParaRPr lang="en-US" sz="1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C1B096D-4FBC-5609-4310-1744C2951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915" y="1187055"/>
            <a:ext cx="7742237" cy="3163490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sz="48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rgbClr val="002060"/>
                </a:solidFill>
              </a:rPr>
              <a:t>Shapley Values</a:t>
            </a:r>
          </a:p>
        </p:txBody>
      </p:sp>
    </p:spTree>
    <p:extLst>
      <p:ext uri="{BB962C8B-B14F-4D97-AF65-F5344CB8AC3E}">
        <p14:creationId xmlns:p14="http://schemas.microsoft.com/office/powerpoint/2010/main" val="143699136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52B0E-D4F0-54B4-1FB7-81D6FDDD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58893-5C41-AD3E-D169-5CD984ECA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Key Drivers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D4F9F0-4C36-2661-E776-3C7A4FD112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AF1615D-E5E9-72AE-BCCD-632670BF3B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3291840" y="-941832"/>
            <a:ext cx="6544666" cy="7037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B5F48A-CBDD-9076-35CF-CF074CAA394A}"/>
              </a:ext>
            </a:extLst>
          </p:cNvPr>
          <p:cNvSpPr txBox="1">
            <a:spLocks noChangeAspect="1"/>
          </p:cNvSpPr>
          <p:nvPr/>
        </p:nvSpPr>
        <p:spPr>
          <a:xfrm>
            <a:off x="649019" y="1045023"/>
            <a:ext cx="3578991" cy="3262432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Suppose we have three independent variables in a regression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/>
              <a:t>Euler diagram (Venn, but with meaningful sizes and areas)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does each contribute?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What’s most important?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do we quantify that?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18D4B30-D576-8821-DECE-0BFBD4301DA7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417925595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A0099D-F43A-5B1A-881F-B801F223F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C89B-C56F-1E8B-9DA2-E62E41761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Simple R</a:t>
            </a:r>
            <a:r>
              <a:rPr lang="en-US" sz="4000" baseline="32000" dirty="0"/>
              <a:t>2</a:t>
            </a:r>
            <a:endParaRPr lang="en-US" sz="2800" baseline="3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9F3AB-AF56-7EEE-5890-500528660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975BBF-A292-19A2-686A-F3CE8F2972F5}"/>
              </a:ext>
            </a:extLst>
          </p:cNvPr>
          <p:cNvSpPr txBox="1"/>
          <p:nvPr/>
        </p:nvSpPr>
        <p:spPr>
          <a:xfrm>
            <a:off x="649019" y="1045027"/>
            <a:ext cx="3557222" cy="3108543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Single independent’s correlation with dependent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“Ignores” overlap, so any total: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Double-counts overlaps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 triple-counts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 …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 19-counts 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/>
              <a:t>A big chunk of things is over-counted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98AA79E-30F6-9943-C61C-358E72532B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3291840" y="-947014"/>
            <a:ext cx="6544666" cy="7037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F7BB8CB-577D-3CE5-7E53-76DCD4143103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39113797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D68521-08AA-735F-0217-1B09134C7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D5500-9D11-3E1D-7B7C-E4CE56B7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Significance Testing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94FC-57A8-1EE6-D22A-FDDB7AE823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810B78-7F44-AF30-607E-F4FD2972D5E8}"/>
              </a:ext>
            </a:extLst>
          </p:cNvPr>
          <p:cNvSpPr txBox="1"/>
          <p:nvPr/>
        </p:nvSpPr>
        <p:spPr>
          <a:xfrm>
            <a:off x="529767" y="936483"/>
            <a:ext cx="3557222" cy="2585323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“Most important ones have most significant t-tests”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“(or F-tests)”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Those tests look at the </a:t>
            </a: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unique</a:t>
            </a:r>
            <a:r>
              <a:rPr lang="en-US" sz="1800" dirty="0"/>
              <a:t> contributions of each variable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Excluding overlap entirely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Big chunk of things gets ignored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F7B533-7525-C4FF-B786-F6427C667D9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3291840" y="-941832"/>
            <a:ext cx="6544666" cy="7037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66AD577-874A-47E3-9C43-120CE65315D3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188390619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BA815-9494-982C-09CF-49F9FE573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15EA-CE51-5FC0-D3B2-076B3710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Stepwise Additions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A3856-C2BB-88A8-D95E-72C89368D5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53D863-B13B-5FA7-54F2-A4548A87CD47}"/>
              </a:ext>
            </a:extLst>
          </p:cNvPr>
          <p:cNvSpPr txBox="1"/>
          <p:nvPr/>
        </p:nvSpPr>
        <p:spPr>
          <a:xfrm>
            <a:off x="649019" y="1027614"/>
            <a:ext cx="3557222" cy="2985433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Full credit to the first in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Whatever the next one adds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What’s added by next, next …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Overlaps credited: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Entirely</a:t>
            </a:r>
            <a:r>
              <a:rPr lang="en-US" sz="1800" dirty="0"/>
              <a:t> to early variables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Not at all to later ones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Unstable if order changes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Common when two are close across waves or subgroups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D45F59-0177-1733-C88C-608C2D2863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3287486" y="-941832"/>
            <a:ext cx="6544666" cy="7037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747E0ED-5998-870D-175D-3C97D616C9DF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380683480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55132D-5801-DBC8-C467-A8FC5429F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B6071-D82D-ABD4-3C81-C86929E0F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Order Matters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B21926-E731-D370-D2B2-C80BA5B244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012005-D787-F1DE-1EC7-3218505B4FEB}"/>
              </a:ext>
            </a:extLst>
          </p:cNvPr>
          <p:cNvSpPr txBox="1"/>
          <p:nvPr/>
        </p:nvSpPr>
        <p:spPr>
          <a:xfrm>
            <a:off x="649019" y="1045027"/>
            <a:ext cx="3557222" cy="707886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A different order changes results dramatically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735F10-E045-FC1C-C555-D2276E00E5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3291840" y="-941832"/>
            <a:ext cx="6544666" cy="7037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E161BEF-FBAC-BCF5-6502-33FA6808D814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247746783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28247-AB6A-10EC-3192-7D497BADF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19572-E2D5-2213-A212-40920FDC7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Share the Overlap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CB496-927D-1DA2-F8DA-CAE76616E0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C094D9-FE98-1577-E537-D85EE43AB301}"/>
              </a:ext>
            </a:extLst>
          </p:cNvPr>
          <p:cNvSpPr txBox="1"/>
          <p:nvPr/>
        </p:nvSpPr>
        <p:spPr>
          <a:xfrm>
            <a:off x="649019" y="1045027"/>
            <a:ext cx="3557222" cy="1938992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“It’s only ‘fair’ to split the overlap equally”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Pretty easy for 2 variables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D1C6F0-8993-FA75-5393-DB073CB042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3291840" y="-941832"/>
            <a:ext cx="6544666" cy="7037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06EA5A0-6D70-93BE-6030-78E0F55FA4F0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390260989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E6487-55D3-1382-CDE9-0869A8B75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D363-7DA5-E7BB-657E-CBD373A7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Share the Overlap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4B1895-247B-1FAD-A7D1-11A7FB4B16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83C55-5E32-B740-4758-C44D8DD86B81}"/>
              </a:ext>
            </a:extLst>
          </p:cNvPr>
          <p:cNvSpPr txBox="1"/>
          <p:nvPr/>
        </p:nvSpPr>
        <p:spPr>
          <a:xfrm>
            <a:off x="649019" y="1045027"/>
            <a:ext cx="3557222" cy="2246769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“It’s only ‘fair’ to split the overlap equally”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Pretty easy for 2 variables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Do all possible pairs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7136601-5877-A1DD-911C-C820A4B21D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3291840" y="-941832"/>
            <a:ext cx="6544666" cy="7037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F0D3545-6FE0-6B32-1D76-66FC4E8E0A94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334502488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91B88-380A-3E6C-AB2B-48D82F866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47273-BAF2-A72D-69A9-721E1D241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Share the Overlap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4DDC1-47B5-86AE-E8C2-DFE3CC3FAA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4406A-3FCB-D490-B502-643DC6C321D1}"/>
              </a:ext>
            </a:extLst>
          </p:cNvPr>
          <p:cNvSpPr txBox="1"/>
          <p:nvPr/>
        </p:nvSpPr>
        <p:spPr>
          <a:xfrm>
            <a:off x="649019" y="1045027"/>
            <a:ext cx="3557222" cy="347787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“It’s only ‘fair’ to split the overlap equally”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Pretty easy for 2 variables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Do all possible pairs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Have to do triplets too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And ultimately 19-lets … too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DA9380-CB9A-E466-6726-0B4576415B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3291840" y="-941832"/>
            <a:ext cx="6544666" cy="7037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B864A30-1C25-A3FE-C1E8-0695B70D69AD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71167596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56A4DA5-746A-D566-1F4E-8D89AAEC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617A9-15D2-EFE2-0F80-EB832E3F6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Share the Overlap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B3F2E-4B0C-0DD7-1A21-386C1BCE7B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33EA9B-8A16-34B1-4658-C0B82920F3AF}"/>
              </a:ext>
            </a:extLst>
          </p:cNvPr>
          <p:cNvSpPr txBox="1"/>
          <p:nvPr/>
        </p:nvSpPr>
        <p:spPr>
          <a:xfrm>
            <a:off x="649019" y="1045027"/>
            <a:ext cx="3557222" cy="400110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Combining all the overlaps …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E15197-0F95-4508-9D3C-C09EA365ED8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3291840" y="-941832"/>
            <a:ext cx="6544666" cy="7037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04D45C2-B737-EEE3-0286-AACC0FD74B61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307834342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4CA8C-0B16-6722-AC1F-CE60D0BC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C484-2B4C-0343-9817-C2DCA7469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Shared Overlap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A8F3E5-0EBA-1102-8645-DED1DAEE2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01E170-F33A-D14D-3DE3-79B7FC3A9F84}"/>
              </a:ext>
            </a:extLst>
          </p:cNvPr>
          <p:cNvSpPr txBox="1"/>
          <p:nvPr/>
        </p:nvSpPr>
        <p:spPr>
          <a:xfrm>
            <a:off x="649019" y="966369"/>
            <a:ext cx="3557222" cy="480644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 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 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Nice feature:  the pieces add to the actual total r-squared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These are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Shapley Values</a:t>
            </a:r>
          </a:p>
          <a:p>
            <a:pPr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dirty="0"/>
              <a:t>Strictly, the </a:t>
            </a:r>
            <a:r>
              <a:rPr lang="en-US" sz="1600" u="sng" dirty="0"/>
              <a:t>set</a:t>
            </a:r>
            <a:r>
              <a:rPr lang="en-US" sz="1600" dirty="0"/>
              <a:t> of all of them is </a:t>
            </a:r>
            <a:r>
              <a:rPr lang="en-US" sz="1600" u="sng" dirty="0"/>
              <a:t>the</a:t>
            </a:r>
            <a:r>
              <a:rPr lang="en-US" sz="1600" dirty="0"/>
              <a:t> Shapley Value (singular), but marketing researchers are not very strict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E6ED95-E9FB-E711-C07D-F321466C09A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3291840" y="-941832"/>
            <a:ext cx="6544666" cy="7037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CD417B-5E1E-8691-3CC1-1D5D6613AF0B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136933877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DA2AC-48DF-545B-16AC-C288FE805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61B83D-B47F-BB0A-349E-4AF25AE98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-941832"/>
            <a:ext cx="6544666" cy="70375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3DC73B-0A51-C402-42E6-EFCEEF293A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-941832"/>
            <a:ext cx="6544666" cy="70375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1035E4-3714-4088-24FA-B9FBAB2704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-941832"/>
            <a:ext cx="6544666" cy="70375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194BE2-27D6-6028-E766-4C6EE9BBF1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-941832"/>
            <a:ext cx="6544666" cy="70375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7DC542E-3DEB-D245-6E95-FC656B3211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1840" y="-941832"/>
            <a:ext cx="6544666" cy="70375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7546DF4-D637-2A29-55C8-4611912133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1840" y="-941832"/>
            <a:ext cx="6544666" cy="7037527"/>
          </a:xfrm>
          <a:prstGeom prst="rect">
            <a:avLst/>
          </a:prstGeom>
        </p:spPr>
      </p:pic>
      <p:pic>
        <p:nvPicPr>
          <p:cNvPr id="23" name="6sec empty">
            <a:hlinkClick r:id="" action="ppaction://media"/>
            <a:extLst>
              <a:ext uri="{FF2B5EF4-FFF2-40B4-BE49-F238E27FC236}">
                <a16:creationId xmlns:a16="http://schemas.microsoft.com/office/drawing/2014/main" id="{2C839125-FBD5-4B62-DF9F-FDA2FE2DE6AA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914.4897"/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97375" y="2397125"/>
            <a:ext cx="347663" cy="347663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4CE72FFA-4C1B-62D4-B399-2C93F2659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15" y="400051"/>
            <a:ext cx="7742237" cy="332399"/>
          </a:xfrm>
        </p:spPr>
        <p:txBody>
          <a:bodyPr/>
          <a:lstStyle/>
          <a:p>
            <a:r>
              <a:rPr lang="en-US" sz="2800" b="1" dirty="0"/>
              <a:t>Shared Overlap</a:t>
            </a:r>
            <a:br>
              <a:rPr lang="en-US" dirty="0"/>
            </a:b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3776F6-163C-E93B-1E69-0DE46A7EB7CA}"/>
              </a:ext>
            </a:extLst>
          </p:cNvPr>
          <p:cNvSpPr txBox="1"/>
          <p:nvPr/>
        </p:nvSpPr>
        <p:spPr>
          <a:xfrm>
            <a:off x="649019" y="966369"/>
            <a:ext cx="3557222" cy="426270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Figures get messy to draw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Algebra gets worse …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But,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averaging over all possible orderings </a:t>
            </a:r>
            <a:r>
              <a:rPr lang="en-US" sz="2000" dirty="0"/>
              <a:t>does it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Overlap goes to one half the time, the other half the time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And so on for thirds, …, 19ths, …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Result: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Shapley Values</a:t>
            </a:r>
            <a:endParaRPr lang="en-US" sz="2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080002"/>
      </p:ext>
    </p:extLst>
  </p:cSld>
  <p:clrMapOvr>
    <a:masterClrMapping/>
  </p:clrMapOvr>
  <p:transition spd="med"/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6000" fill="hold"/>
                                            <p:tgtEl>
                                              <p:spTgt spid="2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3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" presetClass="entr" presetSubtype="0" fill="hold" nodeType="after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1" presetClass="entr" presetSubtype="0" fill="hold" nodeType="after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7" presetID="1" presetClass="entr" presetSubtype="0" fill="hold" nodeType="after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0" presetID="1" presetClass="entr" presetSubtype="0" fill="hold" nodeType="after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23" presetID="1" presetClass="entr" presetSubtype="0" fill="hold" nodeType="after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3" bmkName="Bookmark 1"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6000" fill="hold"/>
                                            <p:tgtEl>
                                              <p:spTgt spid="2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3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D889DABB-E400-1212-277C-7AE8107C7AF8}"/>
              </a:ext>
            </a:extLst>
          </p:cNvPr>
          <p:cNvSpPr txBox="1"/>
          <p:nvPr/>
        </p:nvSpPr>
        <p:spPr>
          <a:xfrm>
            <a:off x="731520" y="1097280"/>
            <a:ext cx="3180805" cy="1477328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Consider all combinations: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Of every size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That do </a:t>
            </a:r>
            <a:r>
              <a:rPr lang="en-US" sz="2000" dirty="0">
                <a:solidFill>
                  <a:srgbClr val="C00000"/>
                </a:solidFill>
              </a:rPr>
              <a:t>NOT</a:t>
            </a:r>
            <a:r>
              <a:rPr lang="en-US" sz="2000" dirty="0"/>
              <a:t> include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Add item G to them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CE53B9-B16C-F615-8084-6F8DCC7D4136}"/>
              </a:ext>
            </a:extLst>
          </p:cNvPr>
          <p:cNvSpPr txBox="1"/>
          <p:nvPr/>
        </p:nvSpPr>
        <p:spPr>
          <a:xfrm>
            <a:off x="731520" y="1097280"/>
            <a:ext cx="3180805" cy="1938992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Consider all combinations: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Of every size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That do </a:t>
            </a:r>
            <a:r>
              <a:rPr lang="en-US" sz="2000" dirty="0">
                <a:solidFill>
                  <a:srgbClr val="C00000"/>
                </a:solidFill>
              </a:rPr>
              <a:t>NOT</a:t>
            </a:r>
            <a:r>
              <a:rPr lang="en-US" sz="2000" dirty="0"/>
              <a:t> include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Add item G to them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Compute value of each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4CED06-F75A-D57D-7E72-1477C7A25153}"/>
              </a:ext>
            </a:extLst>
          </p:cNvPr>
          <p:cNvSpPr txBox="1"/>
          <p:nvPr/>
        </p:nvSpPr>
        <p:spPr>
          <a:xfrm>
            <a:off x="731520" y="1097280"/>
            <a:ext cx="3180805" cy="270843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Consider all combinations: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Of every size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That do </a:t>
            </a:r>
            <a:r>
              <a:rPr lang="en-US" sz="2000" dirty="0">
                <a:solidFill>
                  <a:srgbClr val="C00000"/>
                </a:solidFill>
              </a:rPr>
              <a:t>NOT</a:t>
            </a:r>
            <a:r>
              <a:rPr lang="en-US" sz="2000" dirty="0"/>
              <a:t> include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Add item G to them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Compute value of each 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Difference in valuation is G’s contribution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6ACA49-85AC-49D3-B33D-7335D77D0138}"/>
              </a:ext>
            </a:extLst>
          </p:cNvPr>
          <p:cNvSpPr txBox="1"/>
          <p:nvPr/>
        </p:nvSpPr>
        <p:spPr>
          <a:xfrm>
            <a:off x="4978039" y="4217765"/>
            <a:ext cx="2542901" cy="646331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b="1" i="1" dirty="0">
                <a:solidFill>
                  <a:srgbClr val="C00000"/>
                </a:solidFill>
              </a:rPr>
              <a:t>Averaged within sizes, then sizes equally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DCAFD-7EF3-C437-CD01-0D53DB5A876A}"/>
              </a:ext>
            </a:extLst>
          </p:cNvPr>
          <p:cNvSpPr txBox="1"/>
          <p:nvPr/>
        </p:nvSpPr>
        <p:spPr>
          <a:xfrm>
            <a:off x="7535091" y="439355"/>
            <a:ext cx="1504406" cy="3875742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1A7664-6760-7100-F585-BE4E57D5FFE0}"/>
              </a:ext>
            </a:extLst>
          </p:cNvPr>
          <p:cNvSpPr txBox="1"/>
          <p:nvPr/>
        </p:nvSpPr>
        <p:spPr>
          <a:xfrm>
            <a:off x="7757161" y="764404"/>
            <a:ext cx="1504406" cy="3510645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F87B28-4DF3-06E2-1533-FED158D24A9C}"/>
              </a:ext>
            </a:extLst>
          </p:cNvPr>
          <p:cNvSpPr txBox="1"/>
          <p:nvPr/>
        </p:nvSpPr>
        <p:spPr>
          <a:xfrm>
            <a:off x="5546000" y="812652"/>
            <a:ext cx="898343" cy="3313888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6F94D-E77C-0A90-87BD-C3CF370C3A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6005CE-2159-109A-29DF-BFAE404D56FF}"/>
              </a:ext>
            </a:extLst>
          </p:cNvPr>
          <p:cNvSpPr txBox="1"/>
          <p:nvPr/>
        </p:nvSpPr>
        <p:spPr>
          <a:xfrm>
            <a:off x="731520" y="1097280"/>
            <a:ext cx="3180805" cy="1015663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Consider all combinations: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Of every size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That do </a:t>
            </a:r>
            <a:r>
              <a:rPr lang="en-US" sz="2000" dirty="0">
                <a:solidFill>
                  <a:srgbClr val="C00000"/>
                </a:solidFill>
              </a:rPr>
              <a:t>NOT</a:t>
            </a:r>
            <a:r>
              <a:rPr lang="en-US" sz="2000" dirty="0"/>
              <a:t> include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866CEB-BE43-69A3-8883-59193574F263}"/>
              </a:ext>
            </a:extLst>
          </p:cNvPr>
          <p:cNvSpPr txBox="1"/>
          <p:nvPr/>
        </p:nvSpPr>
        <p:spPr>
          <a:xfrm>
            <a:off x="5725617" y="732450"/>
            <a:ext cx="243435" cy="3154102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54A61C-355A-CC2D-CF84-28B7FA15109E}"/>
              </a:ext>
            </a:extLst>
          </p:cNvPr>
          <p:cNvSpPr txBox="1"/>
          <p:nvPr/>
        </p:nvSpPr>
        <p:spPr>
          <a:xfrm>
            <a:off x="8007532" y="3745710"/>
            <a:ext cx="1161506" cy="1138773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400" b="1" dirty="0">
                <a:solidFill>
                  <a:srgbClr val="C00000"/>
                </a:solidFill>
              </a:rPr>
              <a:t>__________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b="1" dirty="0">
                <a:solidFill>
                  <a:srgbClr val="C00000"/>
                </a:solidFill>
              </a:rPr>
              <a:t>Average= Shapley Value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0458A54-3A45-4CD5-68A6-873C1655D83E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08869E6-6C9E-35F2-9BAB-8A1B413F24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0" y="640080"/>
            <a:ext cx="5969555" cy="336246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FF8E043-E968-59D2-EC2E-5C49A03991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0" y="640080"/>
            <a:ext cx="5969555" cy="336246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34B15DF-C64B-C40B-C2DC-E9710B2D49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0" y="640080"/>
            <a:ext cx="5969555" cy="336246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995EC4A-A325-8793-AD43-A8013C4D11A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0" y="640080"/>
            <a:ext cx="5969555" cy="336246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268F480-FE14-5BC8-A26F-890B9CFB79BF}"/>
              </a:ext>
            </a:extLst>
          </p:cNvPr>
          <p:cNvSpPr txBox="1"/>
          <p:nvPr/>
        </p:nvSpPr>
        <p:spPr>
          <a:xfrm>
            <a:off x="731520" y="1097280"/>
            <a:ext cx="3180805" cy="347787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Consider all combinations: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Of every size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That do </a:t>
            </a:r>
            <a:r>
              <a:rPr lang="en-US" sz="2000" dirty="0">
                <a:solidFill>
                  <a:srgbClr val="C00000"/>
                </a:solidFill>
              </a:rPr>
              <a:t>NOT</a:t>
            </a:r>
            <a:r>
              <a:rPr lang="en-US" sz="2000" dirty="0"/>
              <a:t> include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Add item G to them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Compute value of each 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Difference in valuation is G’s contribution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Average contribution over all combos is the SV of 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43A96-26E8-E4E9-8325-1500D4D4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The Combination View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BC9FA1-D296-7273-5F00-EA8E8F5059A0}"/>
              </a:ext>
            </a:extLst>
          </p:cNvPr>
          <p:cNvSpPr/>
          <p:nvPr/>
        </p:nvSpPr>
        <p:spPr bwMode="auto">
          <a:xfrm>
            <a:off x="4637314" y="4146330"/>
            <a:ext cx="3370218" cy="78920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Tx/>
              <a:tabLst/>
            </a:pPr>
            <a:endParaRPr kumimoji="0" lang="en-US" sz="14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9453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  <p:bldP spid="34" grpId="0"/>
      <p:bldP spid="19" grpId="0"/>
      <p:bldP spid="18" grpId="0"/>
      <p:bldP spid="36" grpId="0"/>
      <p:bldP spid="3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F97D6201-D921-AEA2-6566-25584A498B7D}"/>
              </a:ext>
            </a:extLst>
          </p:cNvPr>
          <p:cNvSpPr txBox="1"/>
          <p:nvPr/>
        </p:nvSpPr>
        <p:spPr>
          <a:xfrm>
            <a:off x="839483" y="1214284"/>
            <a:ext cx="2955769" cy="1631216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 </a:t>
            </a:r>
          </a:p>
          <a:p>
            <a:pPr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Add orange to each: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D4CD1-1D1E-C7B9-CAA8-349540AD14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0275AE-A479-8CD7-23F1-287CB7FF8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15" y="400051"/>
            <a:ext cx="7742237" cy="332399"/>
          </a:xfrm>
        </p:spPr>
        <p:txBody>
          <a:bodyPr/>
          <a:lstStyle/>
          <a:p>
            <a:r>
              <a:rPr lang="en-US" sz="2800" b="1" dirty="0"/>
              <a:t>Combination</a:t>
            </a:r>
            <a:br>
              <a:rPr lang="en-US" sz="2800" b="1" dirty="0"/>
            </a:br>
            <a:r>
              <a:rPr lang="en-US" sz="2800" b="1" dirty="0"/>
              <a:t>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788113-51B2-568C-7D84-11120C8663A9}"/>
              </a:ext>
            </a:extLst>
          </p:cNvPr>
          <p:cNvSpPr txBox="1"/>
          <p:nvPr/>
        </p:nvSpPr>
        <p:spPr>
          <a:xfrm>
            <a:off x="535858" y="3435841"/>
            <a:ext cx="8382000" cy="1231106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Added r-squared                         </a:t>
            </a:r>
            <a:r>
              <a:rPr lang="en-US" sz="2000" b="1" dirty="0"/>
              <a:t>0.229         0.056         0.208       0.053</a:t>
            </a:r>
          </a:p>
          <a:p>
            <a:pPr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Average added </a:t>
            </a:r>
            <a:r>
              <a:rPr lang="en-US" sz="2000" dirty="0">
                <a:solidFill>
                  <a:srgbClr val="FF0000"/>
                </a:solidFill>
              </a:rPr>
              <a:t>by size               </a:t>
            </a:r>
            <a:r>
              <a:rPr lang="en-US" sz="2000" b="1" dirty="0"/>
              <a:t>0.229                  </a:t>
            </a:r>
            <a:r>
              <a:rPr lang="en-US" sz="2000" b="1" dirty="0">
                <a:solidFill>
                  <a:srgbClr val="FF0000"/>
                </a:solidFill>
              </a:rPr>
              <a:t>0.132</a:t>
            </a:r>
            <a:r>
              <a:rPr lang="en-US" sz="2000" b="1" dirty="0"/>
              <a:t>             </a:t>
            </a:r>
            <a:r>
              <a:rPr lang="en-US" sz="700" b="1" dirty="0"/>
              <a:t> </a:t>
            </a:r>
            <a:r>
              <a:rPr lang="en-US" sz="2000" b="1" dirty="0"/>
              <a:t>   0.053</a:t>
            </a:r>
          </a:p>
          <a:p>
            <a:pPr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Average of size adds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(Shapley Value)               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0.138</a:t>
            </a:r>
            <a:endParaRPr lang="en-US" sz="2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576E27-85F1-85DB-65B9-C05BFA6D9EF7}"/>
              </a:ext>
            </a:extLst>
          </p:cNvPr>
          <p:cNvSpPr txBox="1"/>
          <p:nvPr/>
        </p:nvSpPr>
        <p:spPr>
          <a:xfrm>
            <a:off x="4213142" y="117482"/>
            <a:ext cx="4532671" cy="646331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Starting combo size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0                1                  1                 2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B1B5DE-8B37-B5C1-AC16-A6C0B3145D4A}"/>
              </a:ext>
            </a:extLst>
          </p:cNvPr>
          <p:cNvSpPr txBox="1"/>
          <p:nvPr/>
        </p:nvSpPr>
        <p:spPr>
          <a:xfrm>
            <a:off x="839483" y="1214284"/>
            <a:ext cx="2955769" cy="1323439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All combos </a:t>
            </a:r>
            <a:r>
              <a:rPr lang="en-US" sz="2000" u="sng" dirty="0"/>
              <a:t>without</a:t>
            </a:r>
            <a:r>
              <a:rPr lang="en-US" sz="2000" dirty="0"/>
              <a:t> orange variable</a:t>
            </a:r>
          </a:p>
          <a:p>
            <a:pPr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B1D2F577-2FA5-327F-9406-F3E48C6D0E32}"/>
              </a:ext>
            </a:extLst>
          </p:cNvPr>
          <p:cNvSpPr/>
          <p:nvPr/>
        </p:nvSpPr>
        <p:spPr bwMode="auto">
          <a:xfrm rot="5400000">
            <a:off x="6311080" y="2812220"/>
            <a:ext cx="213851" cy="1951702"/>
          </a:xfrm>
          <a:prstGeom prst="rightBrace">
            <a:avLst/>
          </a:prstGeom>
          <a:solidFill>
            <a:schemeClr val="bg1">
              <a:alpha val="0"/>
            </a:schemeClr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E12B45B6-05A1-DE92-4E0B-A13D02DF688C}"/>
              </a:ext>
            </a:extLst>
          </p:cNvPr>
          <p:cNvSpPr/>
          <p:nvPr/>
        </p:nvSpPr>
        <p:spPr bwMode="auto">
          <a:xfrm rot="5400000">
            <a:off x="6228684" y="1956567"/>
            <a:ext cx="255763" cy="4395000"/>
          </a:xfrm>
          <a:prstGeom prst="rightBrace">
            <a:avLst/>
          </a:prstGeom>
          <a:solidFill>
            <a:schemeClr val="bg1">
              <a:alpha val="0"/>
            </a:schemeClr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EFDBF50-DFBB-722A-EB17-BCA89F9E9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620" y="779494"/>
            <a:ext cx="4939406" cy="122621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51E2C74-991A-C216-4906-1575F6778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620" y="2029892"/>
            <a:ext cx="4939406" cy="122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9248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2" grpId="0"/>
      <p:bldP spid="21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5D9E3F-0E85-F145-8B0E-2AF9F620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6952F-B8CA-A2AB-C96F-2FC93A83B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15" y="389540"/>
            <a:ext cx="7742237" cy="391257"/>
          </a:xfrm>
        </p:spPr>
        <p:txBody>
          <a:bodyPr/>
          <a:lstStyle/>
          <a:p>
            <a:r>
              <a:rPr lang="en-US" sz="2800" dirty="0"/>
              <a:t>Weighting Contributions to Combinations for SVs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F4596-E800-0730-E3C4-1AF658F75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4" y="905041"/>
            <a:ext cx="7742237" cy="316358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Each starting combination </a:t>
            </a:r>
            <a:r>
              <a:rPr lang="en-US" sz="1800" b="1" dirty="0"/>
              <a:t>size</a:t>
            </a:r>
            <a:r>
              <a:rPr lang="en-US" sz="1800" dirty="0"/>
              <a:t> is weighted equally</a:t>
            </a:r>
          </a:p>
          <a:p>
            <a:pPr marL="0" indent="0">
              <a:buNone/>
            </a:pPr>
            <a:r>
              <a:rPr lang="en-US" sz="1800" dirty="0"/>
              <a:t>Combinations get equal weight </a:t>
            </a:r>
            <a:r>
              <a:rPr lang="en-US" sz="1800" i="1" dirty="0"/>
              <a:t>within</a:t>
            </a:r>
            <a:r>
              <a:rPr lang="en-US" sz="1800" dirty="0"/>
              <a:t> a size</a:t>
            </a:r>
          </a:p>
          <a:p>
            <a:pPr marL="0" indent="0">
              <a:buNone/>
            </a:pPr>
            <a:r>
              <a:rPr lang="en-US" sz="1800" dirty="0"/>
              <a:t>So, combos are unweighted within a size, and size means are unweighted overall.</a:t>
            </a:r>
          </a:p>
          <a:p>
            <a:pPr marL="0" indent="0">
              <a:buNone/>
            </a:pPr>
            <a:r>
              <a:rPr lang="en-US" sz="1800" dirty="0"/>
              <a:t>Think of orderings–there are </a:t>
            </a:r>
            <a:r>
              <a:rPr lang="en-US" sz="1800" i="1" dirty="0"/>
              <a:t>many</a:t>
            </a:r>
            <a:r>
              <a:rPr lang="en-US" sz="1800" dirty="0"/>
              <a:t> starting with a given item, fewer with a given pair,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B3004-3A28-5EC6-4043-915DFB7B4E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18</a:t>
            </a:fld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1CF0800-4A2D-FB3C-370A-EFB34E078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68" y="2986897"/>
            <a:ext cx="9144000" cy="20605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B03B9C-094E-EADC-3B76-89178CAAED0F}"/>
              </a:ext>
            </a:extLst>
          </p:cNvPr>
          <p:cNvSpPr txBox="1">
            <a:spLocks/>
          </p:cNvSpPr>
          <p:nvPr/>
        </p:nvSpPr>
        <p:spPr>
          <a:xfrm>
            <a:off x="8961120" y="0"/>
            <a:ext cx="182880" cy="182880"/>
          </a:xfrm>
          <a:prstGeom prst="rect">
            <a:avLst/>
          </a:prstGeom>
          <a:solidFill>
            <a:srgbClr val="00FF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0316542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04C69-A20D-0EEE-63B2-55ECCFC16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627E-B282-45FE-83A5-B09401C39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15" y="389540"/>
            <a:ext cx="7742237" cy="391257"/>
          </a:xfrm>
        </p:spPr>
        <p:txBody>
          <a:bodyPr/>
          <a:lstStyle/>
          <a:p>
            <a:r>
              <a:rPr lang="en-US" sz="2800" b="1" dirty="0"/>
              <a:t>Orderings </a:t>
            </a:r>
            <a:r>
              <a:rPr lang="en-US" sz="3200" b="1" dirty="0">
                <a:solidFill>
                  <a:srgbClr val="C00000"/>
                </a:solidFill>
              </a:rPr>
              <a:t>≡</a:t>
            </a:r>
            <a:r>
              <a:rPr lang="en-US" sz="2800" b="1" dirty="0"/>
              <a:t> Combinations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96BA9-5189-678F-95CB-E5387012E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5" y="1253382"/>
            <a:ext cx="7742237" cy="316358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The “average over orderings” view and the “average contribution to a combination” view are algebraically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identical</a:t>
            </a:r>
            <a:r>
              <a:rPr lang="en-US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For intuition, we can use whichever view best fits</a:t>
            </a:r>
          </a:p>
          <a:p>
            <a:pPr>
              <a:lnSpc>
                <a:spcPct val="100000"/>
              </a:lnSpc>
            </a:pPr>
            <a:r>
              <a:rPr lang="en-US" dirty="0"/>
              <a:t>Average over orderings is nice for KDRs</a:t>
            </a:r>
          </a:p>
          <a:p>
            <a:pPr>
              <a:lnSpc>
                <a:spcPct val="100000"/>
              </a:lnSpc>
            </a:pPr>
            <a:r>
              <a:rPr lang="en-US" dirty="0"/>
              <a:t>Average value of adding to combo is nice for TURF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For computation too, we can use whichever view we like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C6E92-F8EB-3753-13CE-71CD2DE16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19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2576684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656B0-0280-F4F3-7B87-D8F1D9634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E030E-C5E1-8F59-A432-6E8F93595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800"/>
              </a:spcBef>
              <a:buNone/>
            </a:pPr>
            <a:endParaRPr lang="en-US" dirty="0"/>
          </a:p>
          <a:p>
            <a:pPr marL="0" indent="0">
              <a:spcBef>
                <a:spcPts val="800"/>
              </a:spcBef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Efficiency:  </a:t>
            </a:r>
            <a:r>
              <a:rPr lang="en-US" dirty="0"/>
              <a:t>Sum of all SVs is the value of the all-in combination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Symmetry:  </a:t>
            </a:r>
            <a:r>
              <a:rPr lang="en-US" dirty="0"/>
              <a:t>Identical contributors have identical SVs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Dummy/Null:  </a:t>
            </a:r>
            <a:r>
              <a:rPr lang="en-US" dirty="0"/>
              <a:t>An item that never adds anything gets an SV of zero</a:t>
            </a:r>
          </a:p>
          <a:p>
            <a:pPr marL="0" indent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Additivity/Linearity:  </a:t>
            </a:r>
            <a:r>
              <a:rPr lang="en-US" dirty="0"/>
              <a:t>For any two valuations, the combined SVs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                            are the sum of the individual ones.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SVs on subgroups can be combined for a total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Or, for random forests, SV is the mean of SVs of the individual trees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Fair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  </a:t>
            </a:r>
            <a:r>
              <a:rPr lang="en-US" dirty="0"/>
              <a:t>These four are often summarized as a “fair” division of credit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6ECD5D-F745-D48E-3883-D15A601B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Shapley Values, Axiomatically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FD03F-EBD0-A908-32C2-CC3A276853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20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0583933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5FAC1-B467-7127-7037-8463BF5DE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45E62-D874-8141-BEC2-B599C792E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800"/>
              </a:spcBef>
              <a:buNone/>
            </a:pPr>
            <a:endParaRPr lang="en-US" dirty="0"/>
          </a:p>
          <a:p>
            <a:pPr marL="0" indent="0">
              <a:spcBef>
                <a:spcPts val="800"/>
              </a:spcBef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Efficiency:  </a:t>
            </a:r>
            <a:r>
              <a:rPr lang="en-US" dirty="0"/>
              <a:t> 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Symmetry:  </a:t>
            </a:r>
            <a:r>
              <a:rPr lang="en-US" dirty="0"/>
              <a:t> 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Dummy/Null:  </a:t>
            </a:r>
            <a:r>
              <a:rPr lang="en-US" dirty="0"/>
              <a:t> </a:t>
            </a:r>
          </a:p>
          <a:p>
            <a:pPr marL="0" indent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Additivity/Linearity:  </a:t>
            </a:r>
            <a:r>
              <a:rPr lang="en-US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                             </a:t>
            </a:r>
          </a:p>
          <a:p>
            <a:pPr marL="447675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</a:p>
          <a:p>
            <a:pPr marL="447675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Fair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  </a:t>
            </a:r>
            <a:r>
              <a:rPr lang="en-US" dirty="0"/>
              <a:t>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605BD6-B741-3434-2CB4-0B07F9CF1EB5}"/>
              </a:ext>
            </a:extLst>
          </p:cNvPr>
          <p:cNvSpPr txBox="1">
            <a:spLocks/>
          </p:cNvSpPr>
          <p:nvPr/>
        </p:nvSpPr>
        <p:spPr bwMode="auto">
          <a:xfrm>
            <a:off x="696914" y="1179636"/>
            <a:ext cx="8055200" cy="391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+mn-cs"/>
              </a:defRPr>
            </a:lvl2pPr>
            <a:lvl3pPr marL="98583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Lucida Grande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3pPr>
            <a:lvl4pPr marL="1433513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Lucida Grande"/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4pPr>
            <a:lvl5pPr marL="17922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Lucida Grande"/>
              <a:buChar char="»"/>
              <a:defRPr sz="1200">
                <a:solidFill>
                  <a:schemeClr val="tx1"/>
                </a:solidFill>
                <a:latin typeface="+mn-lt"/>
                <a:cs typeface="+mn-cs"/>
              </a:defRPr>
            </a:lvl5pPr>
            <a:lvl6pPr marL="22494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6pPr>
            <a:lvl7pPr marL="27066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31638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36210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spcBef>
                <a:spcPts val="800"/>
              </a:spcBef>
              <a:buFont typeface="Arial"/>
              <a:buNone/>
            </a:pPr>
            <a:r>
              <a:rPr lang="en-US" kern="0" dirty="0"/>
              <a:t>Shapley Values are the </a:t>
            </a:r>
            <a:r>
              <a:rPr lang="en-US" b="1" u="sng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only</a:t>
            </a:r>
            <a:r>
              <a:rPr lang="en-US" i="1" kern="0" dirty="0"/>
              <a:t> </a:t>
            </a:r>
            <a:r>
              <a:rPr lang="en-US" kern="0" dirty="0"/>
              <a:t>measure that satisfies </a:t>
            </a:r>
            <a:r>
              <a:rPr lang="en-US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all 4</a:t>
            </a:r>
            <a:r>
              <a:rPr lang="en-US" kern="0" dirty="0"/>
              <a:t> key properties:</a:t>
            </a:r>
          </a:p>
          <a:p>
            <a:pPr marL="0" indent="0">
              <a:spcBef>
                <a:spcPts val="800"/>
              </a:spcBef>
              <a:buFont typeface="Arial"/>
              <a:buNone/>
            </a:pPr>
            <a:r>
              <a:rPr lang="en-US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</a:t>
            </a:r>
            <a:endParaRPr lang="en-US" kern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80492-04D4-8792-CC22-379A25F31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Shapley Values, Axiomatically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1F5FE-A7A4-4AFA-8096-A46512ED7C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21</a:t>
            </a:fld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20D3A1-80D6-4730-9483-2AD8A74D1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695" y="1521875"/>
            <a:ext cx="2162952" cy="328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75513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47161-013F-4DED-D30F-86CEB647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4A0FE-01C5-D902-6D22-9216DB94B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Shapley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48227-2C28-879B-1D53-B13C986AD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5" y="1089164"/>
            <a:ext cx="7742237" cy="31635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summary of what’s goes on with 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combinations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of items</a:t>
            </a:r>
          </a:p>
          <a:p>
            <a:r>
              <a:rPr lang="en-US" dirty="0"/>
              <a:t>Shift focus from combinations (input) to items (much simpler)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Not self-contained, but a “window into” 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some underlying analysis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Built around some function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dirty="0"/>
              <a:t> of valuing a combination,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sz="18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ABC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a typeface="Cambria" panose="02040503050406030204" pitchFamily="18" charset="0"/>
              </a:rPr>
              <a:t>In Key Drivers, typically total r-squared of variables in combination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a typeface="Cambria" panose="02040503050406030204" pitchFamily="18" charset="0"/>
              </a:rPr>
              <a:t>In standard TURF, usually percent of respondents reached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a typeface="Cambria" panose="02040503050406030204" pitchFamily="18" charset="0"/>
              </a:rPr>
              <a:t>Decompose the value of all items together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(all) </a:t>
            </a:r>
            <a:r>
              <a:rPr lang="en-US" dirty="0">
                <a:ea typeface="Cambria" panose="02040503050406030204" pitchFamily="18" charset="0"/>
              </a:rPr>
              <a:t>into</a:t>
            </a:r>
            <a:endParaRPr lang="en-US" sz="1600" dirty="0">
              <a:ea typeface="Cambria" panose="020405030504060302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V(all) = S(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+ S(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+ S(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+ …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a typeface="Cambria" panose="02040503050406030204" pitchFamily="18" charset="0"/>
              </a:rPr>
              <a:t>where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(X)</a:t>
            </a:r>
            <a:r>
              <a:rPr lang="en-US" dirty="0">
                <a:ea typeface="Cambria" panose="02040503050406030204" pitchFamily="18" charset="0"/>
              </a:rPr>
              <a:t> is the Shapley Value of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C1954-08D6-5EF1-43DB-B1E95D5C6D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8271826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35A5D-DADB-4B7B-3251-5E5A4D17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5253-FA47-FA78-6F70-A682C4B04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SVs as a “Lens” into TURF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06DE9-59EC-26B8-2844-370B27623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8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Get an AI illustration here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A11F8-38D3-B304-2FB7-E2F361987F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23</a:t>
            </a:fld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6CADD2-5FD8-2C76-28B8-AEA87B35BF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388" y="776037"/>
            <a:ext cx="4144669" cy="1664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4AFF88-2945-2FCC-D68C-3E3A086C9B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83873">
            <a:off x="227140" y="2936846"/>
            <a:ext cx="4144669" cy="1664047"/>
          </a:xfrm>
          <a:prstGeom prst="rect">
            <a:avLst/>
          </a:prstGeom>
          <a:solidFill>
            <a:schemeClr val="bg1">
              <a:alpha val="25000"/>
            </a:schemeClr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C0C7AD-1559-911F-BF66-7A4BFC00B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08093">
            <a:off x="3421809" y="1577543"/>
            <a:ext cx="3910127" cy="22003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8D120F-05E1-1D3D-8972-6AD4DBF2F2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496229">
            <a:off x="4576572" y="2714525"/>
            <a:ext cx="4012034" cy="15699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27DF73D-7513-1E33-9CA1-F8E3377F78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35491">
            <a:off x="4960092" y="608000"/>
            <a:ext cx="4012035" cy="21731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DCB48FA-76FF-B39B-AB4E-81D614B3D8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611417">
            <a:off x="300464" y="1779000"/>
            <a:ext cx="2936364" cy="15102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D9A8FD-16FB-855F-B4F9-B1941A5CCD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142702">
            <a:off x="1815688" y="2844696"/>
            <a:ext cx="3329301" cy="15826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B461DD-568D-E0FA-55F1-7BEDF232ED7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51655">
            <a:off x="478863" y="-436809"/>
            <a:ext cx="9420675" cy="62804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7BC42DC-9CC9-7F4C-CAD6-694E45FFB6E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10627" y="1025458"/>
            <a:ext cx="3095616" cy="2855874"/>
          </a:xfrm>
          <a:prstGeom prst="ellipse">
            <a:avLst/>
          </a:prstGeom>
          <a:solidFill>
            <a:schemeClr val="bg1"/>
          </a:solidFill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8384F2D-5970-3461-9CFB-29C56498C2CE}"/>
              </a:ext>
            </a:extLst>
          </p:cNvPr>
          <p:cNvSpPr txBox="1"/>
          <p:nvPr/>
        </p:nvSpPr>
        <p:spPr>
          <a:xfrm>
            <a:off x="558810" y="1014880"/>
            <a:ext cx="3338935" cy="3477875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Shapley Values are             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one value per item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Not endless lists of combinations (and ties)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Room for labels!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642240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C7775-97CE-8137-D807-7BF6109B8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D9B00-B9EA-16C5-9129-F9CC02A497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24</a:t>
            </a:fld>
            <a:endParaRPr lang="en-US" sz="1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4EE4F1-ECA0-55B2-469C-2D88895B7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915" y="1645920"/>
            <a:ext cx="7742237" cy="3163490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</a:t>
            </a:r>
            <a:r>
              <a:rPr lang="en-US" sz="4800" b="1" dirty="0">
                <a:solidFill>
                  <a:srgbClr val="002060"/>
                </a:solidFill>
              </a:rPr>
              <a:t>omponent </a:t>
            </a:r>
            <a:r>
              <a:rPr lang="en-US" sz="4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</a:t>
            </a:r>
            <a:r>
              <a:rPr lang="en-US" sz="4800" b="1" dirty="0">
                <a:solidFill>
                  <a:srgbClr val="002060"/>
                </a:solidFill>
              </a:rPr>
              <a:t>rder of </a:t>
            </a:r>
            <a:r>
              <a:rPr lang="en-US" sz="4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</a:t>
            </a:r>
            <a:r>
              <a:rPr lang="en-US" sz="4800" b="1" dirty="0">
                <a:solidFill>
                  <a:srgbClr val="002060"/>
                </a:solidFill>
              </a:rPr>
              <a:t>ddition Designs (</a:t>
            </a:r>
            <a:r>
              <a:rPr lang="en-US" sz="4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COA</a:t>
            </a:r>
            <a:r>
              <a:rPr lang="en-US" sz="4800" b="1" dirty="0">
                <a:solidFill>
                  <a:srgbClr val="002060"/>
                </a:solidFill>
              </a:rPr>
              <a:t>s)</a:t>
            </a:r>
          </a:p>
        </p:txBody>
      </p:sp>
    </p:spTree>
    <p:extLst>
      <p:ext uri="{BB962C8B-B14F-4D97-AF65-F5344CB8AC3E}">
        <p14:creationId xmlns:p14="http://schemas.microsoft.com/office/powerpoint/2010/main" val="2298095230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B80E3-D799-E353-5068-5BF88FF5A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B3E01-3BFB-E8D2-57C5-F1927C4507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1840C5-2E2D-5A94-C19B-EAAB9DF4FD1C}"/>
              </a:ext>
            </a:extLst>
          </p:cNvPr>
          <p:cNvSpPr txBox="1"/>
          <p:nvPr/>
        </p:nvSpPr>
        <p:spPr>
          <a:xfrm>
            <a:off x="696915" y="999460"/>
            <a:ext cx="3773012" cy="2677656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Combinations work way better than orderings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But both explode rapidly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b="1" i="1" dirty="0">
                <a:latin typeface="Cambria Math"/>
                <a:cs typeface="+mn-cs"/>
              </a:rPr>
              <a:t>n = 30  </a:t>
            </a:r>
            <a:r>
              <a:rPr lang="en-US" sz="2000" dirty="0"/>
              <a:t>or so is practical limit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EE511C-1638-9F4B-F595-EC83594B4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695" y="343524"/>
            <a:ext cx="4582756" cy="4347560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B7911ED-0765-8F99-3465-E06EE8C239A5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2E530-05BC-595E-825A-CBA3264D4EE4}"/>
              </a:ext>
            </a:extLst>
          </p:cNvPr>
          <p:cNvSpPr txBox="1"/>
          <p:nvPr/>
        </p:nvSpPr>
        <p:spPr>
          <a:xfrm>
            <a:off x="696915" y="2730154"/>
            <a:ext cx="3773012" cy="1138773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Instead: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Random sampling!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6004829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79B168F-9716-062F-A877-9C71F4E0C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55654-3341-D922-2F66-4150484C4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Sampling Combinations?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DCDA2-F3AF-7863-7F08-628B19401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could</a:t>
            </a:r>
            <a:r>
              <a:rPr lang="en-US" dirty="0"/>
              <a:t> sample combinations</a:t>
            </a:r>
          </a:p>
          <a:p>
            <a:r>
              <a:rPr lang="en-US" dirty="0"/>
              <a:t>Need samples within each size</a:t>
            </a:r>
          </a:p>
          <a:p>
            <a:r>
              <a:rPr lang="en-US" dirty="0"/>
              <a:t>Different samples for each item being evaluated</a:t>
            </a:r>
          </a:p>
          <a:p>
            <a:r>
              <a:rPr lang="en-US" dirty="0"/>
              <a:t>Do-able, but a programming/admin headache</a:t>
            </a:r>
          </a:p>
          <a:p>
            <a:r>
              <a:rPr lang="en-US" dirty="0"/>
              <a:t>Not obvious how to design/optimize the sampling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Sampling orderings would be more straightforward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8F9F9-0B3E-ED46-5548-89E584D55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26</a:t>
            </a:fld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D52ED-C311-7620-95A9-DFF62C5AFD05}"/>
              </a:ext>
            </a:extLst>
          </p:cNvPr>
          <p:cNvSpPr txBox="1">
            <a:spLocks/>
          </p:cNvSpPr>
          <p:nvPr/>
        </p:nvSpPr>
        <p:spPr>
          <a:xfrm>
            <a:off x="8961120" y="0"/>
            <a:ext cx="182880" cy="182880"/>
          </a:xfrm>
          <a:prstGeom prst="rect">
            <a:avLst/>
          </a:prstGeom>
          <a:solidFill>
            <a:srgbClr val="00FF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13525783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A8278-0959-889D-5AD9-5D20CA328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68036-8597-81DD-43E6-42DED9EE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</a:t>
            </a:r>
            <a:r>
              <a:rPr lang="en-US" sz="2800" b="1" dirty="0"/>
              <a:t>omponent </a:t>
            </a: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</a:t>
            </a:r>
            <a:r>
              <a:rPr lang="en-US" sz="2800" b="1" dirty="0"/>
              <a:t>rder of </a:t>
            </a: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</a:t>
            </a:r>
            <a:r>
              <a:rPr lang="en-US" sz="2800" b="1" dirty="0"/>
              <a:t>ddition (</a:t>
            </a: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COA</a:t>
            </a:r>
            <a:r>
              <a:rPr lang="en-US" sz="2800" b="1" dirty="0"/>
              <a:t>)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BA0FA-F804-8960-76C6-5B58FDF29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COA</a:t>
            </a:r>
            <a:r>
              <a:rPr lang="en-US" dirty="0"/>
              <a:t> is a set of orderings structured to have: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relatively small </a:t>
            </a:r>
            <a:r>
              <a:rPr lang="en-US" dirty="0"/>
              <a:t>number of orderings: 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 Math"/>
              </a:rPr>
              <a:t>n (n-1)  </a:t>
            </a:r>
            <a:r>
              <a:rPr lang="en-US" dirty="0"/>
              <a:t>total for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 Math"/>
              </a:rPr>
              <a:t>n</a:t>
            </a:r>
            <a:r>
              <a:rPr lang="en-US" dirty="0"/>
              <a:t> items</a:t>
            </a:r>
          </a:p>
          <a:p>
            <a:r>
              <a:rPr lang="en-US" b="1" dirty="0">
                <a:solidFill>
                  <a:srgbClr val="0070C0"/>
                </a:solidFill>
              </a:rPr>
              <a:t>Equi-positioning:  </a:t>
            </a:r>
            <a:r>
              <a:rPr lang="en-US" dirty="0"/>
              <a:t>Every item occurs in every position </a:t>
            </a:r>
            <a:r>
              <a:rPr lang="en-US" dirty="0">
                <a:solidFill>
                  <a:srgbClr val="0070C0"/>
                </a:solidFill>
              </a:rPr>
              <a:t>exactly</a:t>
            </a:r>
            <a:r>
              <a:rPr lang="en-US" dirty="0"/>
              <a:t> the same number of times</a:t>
            </a:r>
          </a:p>
          <a:p>
            <a:r>
              <a:rPr lang="en-US" b="1" dirty="0">
                <a:solidFill>
                  <a:srgbClr val="0070C0"/>
                </a:solidFill>
              </a:rPr>
              <a:t>Pairwise </a:t>
            </a:r>
            <a:r>
              <a:rPr lang="en-US" b="1" dirty="0" err="1">
                <a:solidFill>
                  <a:srgbClr val="0070C0"/>
                </a:solidFill>
              </a:rPr>
              <a:t>equi</a:t>
            </a:r>
            <a:r>
              <a:rPr lang="en-US" b="1" dirty="0">
                <a:solidFill>
                  <a:srgbClr val="0070C0"/>
                </a:solidFill>
              </a:rPr>
              <a:t>-precedence:  </a:t>
            </a:r>
            <a:r>
              <a:rPr lang="en-US" dirty="0"/>
              <a:t>For any pair of items A and B, A precedes B </a:t>
            </a:r>
            <a:r>
              <a:rPr lang="en-US" dirty="0">
                <a:solidFill>
                  <a:srgbClr val="0070C0"/>
                </a:solidFill>
              </a:rPr>
              <a:t>exactly</a:t>
            </a:r>
            <a:r>
              <a:rPr lang="en-US" dirty="0"/>
              <a:t> as often as B precedes A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(J-F. Yang et al 2021, and L. Yang et al 2024)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A “</a:t>
            </a:r>
            <a:r>
              <a:rPr lang="en-US" dirty="0">
                <a:solidFill>
                  <a:srgbClr val="0070C0"/>
                </a:solidFill>
              </a:rPr>
              <a:t>random</a:t>
            </a:r>
            <a:r>
              <a:rPr lang="en-US" dirty="0"/>
              <a:t>” but experimentally </a:t>
            </a:r>
            <a:r>
              <a:rPr lang="en-US" b="1" dirty="0">
                <a:solidFill>
                  <a:srgbClr val="0070C0"/>
                </a:solidFill>
              </a:rPr>
              <a:t>designed</a:t>
            </a:r>
            <a:r>
              <a:rPr lang="en-US" dirty="0"/>
              <a:t> sample of orderings</a:t>
            </a:r>
            <a:endParaRPr lang="en-US" sz="1800" dirty="0"/>
          </a:p>
          <a:p>
            <a:pPr marL="0" indent="0">
              <a:spcBef>
                <a:spcPts val="1200"/>
              </a:spcBef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4C40B-647B-D377-3ED5-9BDB0CC6A8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27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04722726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8BAFE2-1FDB-ABD0-613B-B079CB078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77AD-182F-D0FF-7DF3-2B5F9D93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Example: A Small COA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1F556-A6A5-0CC3-0FB8-506622C31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5" y="1186962"/>
            <a:ext cx="3018134" cy="2935020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 = 5 </a:t>
            </a:r>
            <a:r>
              <a:rPr lang="en-US" dirty="0"/>
              <a:t>items/variables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 (n-1) = 20 </a:t>
            </a:r>
            <a:r>
              <a:rPr lang="en-US" dirty="0"/>
              <a:t>orderings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Each item is in each position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n-1 = 4 </a:t>
            </a:r>
            <a:r>
              <a:rPr lang="en-US" dirty="0"/>
              <a:t>times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For </a:t>
            </a:r>
            <a:r>
              <a:rPr lang="en-US" i="1" u="sng" dirty="0"/>
              <a:t>any</a:t>
            </a:r>
            <a:r>
              <a:rPr lang="en-US" dirty="0"/>
              <a:t> pair, say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en-US" dirty="0"/>
              <a:t> and </a:t>
            </a:r>
            <a:r>
              <a:rPr lang="en-US" b="1" dirty="0">
                <a:solidFill>
                  <a:srgbClr val="00B050"/>
                </a:solidFill>
                <a:highlight>
                  <a:srgbClr val="00FFFF"/>
                </a:highlight>
              </a:rPr>
              <a:t>5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en-US" dirty="0"/>
              <a:t> is before </a:t>
            </a:r>
            <a:r>
              <a:rPr lang="en-US" b="1" dirty="0">
                <a:solidFill>
                  <a:srgbClr val="00B050"/>
                </a:solidFill>
                <a:highlight>
                  <a:srgbClr val="00FFFF"/>
                </a:highlight>
              </a:rPr>
              <a:t>5</a:t>
            </a:r>
            <a:r>
              <a:rPr lang="en-US" dirty="0"/>
              <a:t> 10 times, </a:t>
            </a:r>
            <a:r>
              <a:rPr lang="en-US" b="1" dirty="0">
                <a:solidFill>
                  <a:srgbClr val="00B050"/>
                </a:solidFill>
                <a:highlight>
                  <a:srgbClr val="00FFFF"/>
                </a:highlight>
              </a:rPr>
              <a:t>5</a:t>
            </a:r>
            <a:r>
              <a:rPr lang="en-US" dirty="0"/>
              <a:t> is before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en-US" dirty="0"/>
              <a:t> 10 times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F9694-2576-3A6D-3F39-4A3DC604B9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28</a:t>
            </a:fld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22BA13-1B0F-8FAD-BAF9-569F7BF4B6FE}"/>
              </a:ext>
            </a:extLst>
          </p:cNvPr>
          <p:cNvSpPr txBox="1"/>
          <p:nvPr/>
        </p:nvSpPr>
        <p:spPr>
          <a:xfrm>
            <a:off x="4072819" y="4107620"/>
            <a:ext cx="4630742" cy="307777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400" dirty="0"/>
              <a:t>(Orderings sorted to highlight 3/5 pairwise ordering)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78A22E-13E7-4059-AF94-F14F3926D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821" y="1048126"/>
            <a:ext cx="4630740" cy="292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2352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4DDA5-447A-AC24-5467-8A4124240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E8A04-55BD-36B9-4CAD-2ED3BE913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But, Do They Work?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BA150A-A830-79D0-C85B-31DA5F8291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C66F7C-60CF-69A6-3EA5-B1A4B3B0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91440"/>
            <a:ext cx="5639745" cy="4926269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8F843CEC-D436-5E42-C0EA-BBFFA6A4E731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40DC8-3D1D-28E0-F9E5-43F25A676C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980" y="1041061"/>
            <a:ext cx="2703781" cy="3472032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dirty="0"/>
              <a:t>Yes, incredibly well</a:t>
            </a:r>
          </a:p>
          <a:p>
            <a:pPr marL="0" indent="0">
              <a:spcBef>
                <a:spcPts val="240"/>
              </a:spcBef>
              <a:buNone/>
            </a:pPr>
            <a:r>
              <a:rPr lang="en-US" dirty="0"/>
              <a:t>Blue line—dead on!</a:t>
            </a:r>
          </a:p>
        </p:txBody>
      </p:sp>
    </p:spTree>
    <p:extLst>
      <p:ext uri="{BB962C8B-B14F-4D97-AF65-F5344CB8AC3E}">
        <p14:creationId xmlns:p14="http://schemas.microsoft.com/office/powerpoint/2010/main" val="2858779549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EA452-E905-7E4D-BC38-96CA0021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B01C441-0FBD-6B6C-D5E8-687A319E9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91440"/>
            <a:ext cx="5639745" cy="49262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5141BC-4D9F-2520-F97E-7D62DDA54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But, Do They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03898-C121-6532-DB3C-AF1B08D5F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980" y="1041061"/>
            <a:ext cx="2703781" cy="3472032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dirty="0"/>
              <a:t>Yes, incredibly well</a:t>
            </a:r>
          </a:p>
          <a:p>
            <a:pPr marL="0" indent="0">
              <a:spcBef>
                <a:spcPts val="240"/>
              </a:spcBef>
              <a:buNone/>
            </a:pPr>
            <a:r>
              <a:rPr lang="en-US" dirty="0"/>
              <a:t>Blue line—dead on!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US" dirty="0"/>
              <a:t>Log scale amplifies situation at the bottom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solidFill>
                  <a:srgbClr val="0033CC"/>
                </a:solidFill>
              </a:rPr>
              <a:t>RMS CV is “SD of percent error”</a:t>
            </a:r>
          </a:p>
          <a:p>
            <a:pPr>
              <a:lnSpc>
                <a:spcPct val="100000"/>
              </a:lnSpc>
              <a:spcBef>
                <a:spcPts val="240"/>
              </a:spcBef>
            </a:pPr>
            <a:r>
              <a:rPr lang="en-US" sz="1800" dirty="0"/>
              <a:t>Takes out scale</a:t>
            </a:r>
          </a:p>
          <a:p>
            <a:pPr>
              <a:lnSpc>
                <a:spcPct val="100000"/>
              </a:lnSpc>
              <a:spcBef>
                <a:spcPts val="240"/>
              </a:spcBef>
            </a:pPr>
            <a:r>
              <a:rPr lang="en-US" sz="1800" dirty="0"/>
              <a:t>Comparable across datasets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4C839-F6CA-E3C1-A068-BF12848A98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0AF3D-62B7-E4EE-2FFE-88078D9DB593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481772991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6AD30-6410-B4C6-2E91-1AC047394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1375-578A-65BE-186A-D57CC96C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 Bigger KDR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45AC3-5A1F-6867-5426-F54D2C959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980" y="1041061"/>
            <a:ext cx="2703781" cy="34720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29 variables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800" dirty="0"/>
              <a:t>Exact </a:t>
            </a:r>
            <a:r>
              <a:rPr lang="en-US" sz="1800" dirty="0" err="1"/>
              <a:t>Shapleys</a:t>
            </a:r>
            <a:r>
              <a:rPr lang="en-US" sz="1800" dirty="0"/>
              <a:t>:</a:t>
            </a:r>
          </a:p>
          <a:p>
            <a:pPr>
              <a:lnSpc>
                <a:spcPct val="100000"/>
              </a:lnSpc>
              <a:spcBef>
                <a:spcPts val="210"/>
              </a:spcBef>
            </a:pPr>
            <a:r>
              <a:rPr lang="en-US" sz="1800" dirty="0">
                <a:solidFill>
                  <a:srgbClr val="0033CC"/>
                </a:solidFill>
              </a:rPr>
              <a:t>20+ </a:t>
            </a:r>
            <a:r>
              <a:rPr lang="en-US" sz="1800" dirty="0" err="1">
                <a:solidFill>
                  <a:srgbClr val="0033CC"/>
                </a:solidFill>
              </a:rPr>
              <a:t>hrs</a:t>
            </a:r>
            <a:r>
              <a:rPr lang="en-US" sz="1800" dirty="0">
                <a:solidFill>
                  <a:srgbClr val="0033CC"/>
                </a:solidFill>
              </a:rPr>
              <a:t> </a:t>
            </a:r>
            <a:r>
              <a:rPr lang="en-US" sz="1800" u="sng" dirty="0">
                <a:solidFill>
                  <a:srgbClr val="0033CC"/>
                </a:solidFill>
              </a:rPr>
              <a:t>est</a:t>
            </a:r>
            <a:r>
              <a:rPr lang="en-US" sz="1800" dirty="0">
                <a:solidFill>
                  <a:srgbClr val="0033CC"/>
                </a:solidFill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relaimpo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r>
              <a:rPr lang="en-US" sz="1800" dirty="0">
                <a:solidFill>
                  <a:srgbClr val="0033CC"/>
                </a:solidFill>
              </a:rPr>
              <a:t>100 min </a:t>
            </a:r>
            <a:r>
              <a:rPr lang="en-US" sz="1800" dirty="0"/>
              <a:t>my code</a:t>
            </a:r>
          </a:p>
          <a:p>
            <a:pPr marL="0" indent="0">
              <a:lnSpc>
                <a:spcPct val="100000"/>
              </a:lnSpc>
              <a:spcBef>
                <a:spcPts val="210"/>
              </a:spcBef>
              <a:buNone/>
            </a:pPr>
            <a:r>
              <a:rPr lang="en-US" sz="1800" dirty="0"/>
              <a:t>Approximate:</a:t>
            </a:r>
          </a:p>
          <a:p>
            <a:pPr>
              <a:lnSpc>
                <a:spcPct val="100000"/>
              </a:lnSpc>
              <a:spcBef>
                <a:spcPts val="210"/>
              </a:spcBef>
            </a:pPr>
            <a:r>
              <a:rPr lang="en-US" sz="1800" dirty="0"/>
              <a:t>COA:  </a:t>
            </a:r>
            <a:r>
              <a:rPr lang="en-US" sz="1800" dirty="0">
                <a:solidFill>
                  <a:srgbClr val="0033CC"/>
                </a:solidFill>
              </a:rPr>
              <a:t>265 </a:t>
            </a:r>
            <a:r>
              <a:rPr lang="en-US" sz="1800" dirty="0" err="1">
                <a:solidFill>
                  <a:srgbClr val="0033CC"/>
                </a:solidFill>
              </a:rPr>
              <a:t>millisec</a:t>
            </a:r>
            <a:r>
              <a:rPr lang="en-US" sz="1800" dirty="0">
                <a:solidFill>
                  <a:srgbClr val="0033CC"/>
                </a:solidFill>
              </a:rPr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/>
              <a:t>Can’t go bigger and still have gold standard exact values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33A24-E003-4D31-B2C4-8DF85FB107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5E0E0B0-F87D-DE92-99E1-9F3613A187D4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C753FE-FB5B-F4C6-E916-74370E4EC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91440"/>
            <a:ext cx="5639745" cy="492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5177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EA64C-50E2-8E06-07AA-22CF01720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A9588-2A12-F8D4-E64F-4FCC3799F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TURF as a Special Case—Easy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976DB-892D-53AD-345C-26BE52422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TURF on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0-1 item measures </a:t>
            </a:r>
            <a:r>
              <a:rPr lang="en-US" dirty="0"/>
              <a:t>and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0-1 final reach per respondent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Exact computation of SVs is easy</a:t>
            </a:r>
            <a:r>
              <a:rPr lang="en-US" b="1" dirty="0"/>
              <a:t> </a:t>
            </a:r>
            <a:r>
              <a:rPr lang="en-US" dirty="0"/>
              <a:t>for any number of variables</a:t>
            </a:r>
          </a:p>
          <a:p>
            <a:r>
              <a:rPr lang="en-US" sz="1800" dirty="0"/>
              <a:t>BUT those 0-1 qualifiers exclude most forms of TURF on MaxDiff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dirty="0"/>
              <a:t>See Conklin and Lipovetsky (2013) and Lyon (2018), both in Sawtooth Proceedings, for more details on the “hypergeometric trick” for easy, fast, exact SVs on TURF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This makes TURF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a great test case </a:t>
            </a:r>
            <a:r>
              <a:rPr lang="en-US" dirty="0"/>
              <a:t>for accuracy of sampling</a:t>
            </a:r>
          </a:p>
          <a:p>
            <a:r>
              <a:rPr lang="en-US" dirty="0"/>
              <a:t>Gold-standard exact </a:t>
            </a:r>
            <a:r>
              <a:rPr lang="en-US" dirty="0" err="1"/>
              <a:t>Shapleys</a:t>
            </a:r>
            <a:r>
              <a:rPr lang="en-US" dirty="0"/>
              <a:t> are easy, even on big datasets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35A50-CDA9-C07A-F6FE-EB0A96B7FC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32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62155950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F57A-417D-5D51-1BE9-5092D96C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ED94B-5A96-159D-3DC7-2CEDCFF5A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 Big TURF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A98B-A10B-BCEF-1151-049E011E5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915" y="1187055"/>
            <a:ext cx="2869245" cy="3148971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66 items</a:t>
            </a:r>
          </a:p>
          <a:p>
            <a:pPr marL="0" indent="0">
              <a:buNone/>
            </a:pPr>
            <a:r>
              <a:rPr lang="en-US" dirty="0"/>
              <a:t>standard TURF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RMS CV &lt; 1/4%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7CC58-A9F6-652D-2B54-6AD2F64CE9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A77E74-A45A-5434-9416-14CA2CD50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91440"/>
            <a:ext cx="5639745" cy="4926269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2D7BCA56-FEB0-B1F0-3156-CB5B2621484B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3586860970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8686F-A15C-1913-40FD-DDABE28C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28F9A-879E-5426-FFD9-F4C318B8E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 </a:t>
            </a:r>
            <a:r>
              <a:rPr lang="en-US" sz="2800" b="1" dirty="0"/>
              <a:t>Really</a:t>
            </a:r>
            <a:r>
              <a:rPr lang="en-US" sz="2800" dirty="0"/>
              <a:t> Big TURF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A28A-5AFE-5160-6A90-354F72935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916" y="1187055"/>
            <a:ext cx="2646052" cy="3227629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dirty="0"/>
              <a:t>216 items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/>
              <a:t>Bandit MaxDiff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/>
              <a:t>Utilities </a:t>
            </a:r>
            <a:r>
              <a:rPr lang="en-US" dirty="0" err="1"/>
              <a:t>thresholded</a:t>
            </a:r>
            <a:r>
              <a:rPr lang="en-US" dirty="0"/>
              <a:t> to make 0/1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RMS CV ~ 0.4%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12 seconds w/ COA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69AFE-AFF9-2E80-A215-86679B37D2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20979A0-A6E7-3DDF-DE60-3EE0D339D4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3566160" y="91440"/>
            <a:ext cx="5639745" cy="4926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D6CAA749-18E4-83AA-EB23-51767DB34C0A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2467464966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266A5-B365-6F73-4BD8-C9D5489F5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DB44-4940-35BB-20F7-C99AD3A6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Multiple COAs Exist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A6A2A-ECC9-7032-F242-2B7EB5FDA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more than one COA of any given size.  </a:t>
            </a:r>
          </a:p>
          <a:p>
            <a:pPr marL="0" indent="0">
              <a:buNone/>
            </a:pPr>
            <a:r>
              <a:rPr lang="en-US" dirty="0"/>
              <a:t>                          </a:t>
            </a:r>
            <a:r>
              <a:rPr lang="en-US" sz="2400" b="1" i="1" dirty="0">
                <a:latin typeface="Cambria Math"/>
              </a:rPr>
              <a:t>n!</a:t>
            </a:r>
            <a:r>
              <a:rPr lang="en-US" sz="2800" dirty="0"/>
              <a:t>   =  </a:t>
            </a:r>
            <a:r>
              <a:rPr lang="en-US" sz="2400" b="1" i="1" dirty="0">
                <a:latin typeface="Cambria Math"/>
              </a:rPr>
              <a:t>n (n-1)   (n-2)!</a:t>
            </a:r>
            <a:endParaRPr lang="en-US" sz="1800" b="1" i="1" dirty="0">
              <a:latin typeface="Cambria Math"/>
            </a:endParaRPr>
          </a:p>
          <a:p>
            <a:pPr marL="0" indent="0">
              <a:buNone/>
            </a:pPr>
            <a:endParaRPr lang="en-US" sz="1800" b="1" i="1" dirty="0">
              <a:latin typeface="Cambria Math"/>
            </a:endParaRPr>
          </a:p>
          <a:p>
            <a:pPr marL="0" indent="0">
              <a:buNone/>
            </a:pPr>
            <a:endParaRPr lang="en-US" sz="1800" b="1" i="1" dirty="0">
              <a:latin typeface="Cambria Math"/>
            </a:endParaRPr>
          </a:p>
          <a:p>
            <a:pPr marL="0" indent="0">
              <a:buNone/>
            </a:pPr>
            <a:endParaRPr lang="en-US" sz="1800" b="1" i="1" dirty="0">
              <a:latin typeface="Cambria Math"/>
            </a:endParaRPr>
          </a:p>
          <a:p>
            <a:pPr marL="0" indent="0">
              <a:buNone/>
            </a:pPr>
            <a:r>
              <a:rPr lang="en-US" dirty="0"/>
              <a:t>There are </a:t>
            </a:r>
            <a:r>
              <a:rPr lang="en-US" b="1" i="1" dirty="0">
                <a:latin typeface="Cambria Math"/>
              </a:rPr>
              <a:t>(n-2)!  </a:t>
            </a:r>
            <a:r>
              <a:rPr lang="en-US" dirty="0"/>
              <a:t>COAs for </a:t>
            </a:r>
            <a:r>
              <a:rPr lang="en-US" b="1" i="1" dirty="0">
                <a:latin typeface="Cambria Math"/>
              </a:rPr>
              <a:t>n</a:t>
            </a:r>
            <a:r>
              <a:rPr lang="en-US" dirty="0"/>
              <a:t> variables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Exhaustive &amp; mutually-exclusive </a:t>
            </a:r>
            <a:r>
              <a:rPr lang="en-US" dirty="0"/>
              <a:t>partitioning of all possible orders</a:t>
            </a:r>
          </a:p>
          <a:p>
            <a:r>
              <a:rPr lang="en-US" dirty="0"/>
              <a:t>Obtained simply by permuting the last </a:t>
            </a:r>
            <a:r>
              <a:rPr lang="en-US" b="1" i="1" dirty="0">
                <a:latin typeface="Cambria Math"/>
              </a:rPr>
              <a:t>n-2</a:t>
            </a:r>
            <a:r>
              <a:rPr lang="en-US" dirty="0"/>
              <a:t> columns of an initial one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A0DD3-A561-C5F2-2FED-24A324E07F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4882896"/>
            <a:ext cx="1043609" cy="265176"/>
          </a:xfrm>
        </p:spPr>
        <p:txBody>
          <a:bodyPr/>
          <a:lstStyle/>
          <a:p>
            <a:fld id="{5094B349-2FA9-4691-A40D-829E22088964}" type="slidenum">
              <a:rPr lang="en-US" smtClean="0"/>
              <a:pPr/>
              <a:t>35</a:t>
            </a:fld>
            <a:endParaRPr lang="en-US" sz="1200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AAF49C96-DDCB-C17A-2F62-82F4938092C3}"/>
              </a:ext>
            </a:extLst>
          </p:cNvPr>
          <p:cNvSpPr/>
          <p:nvPr/>
        </p:nvSpPr>
        <p:spPr bwMode="auto">
          <a:xfrm rot="16200000">
            <a:off x="3794760" y="1609344"/>
            <a:ext cx="211311" cy="1007490"/>
          </a:xfrm>
          <a:prstGeom prst="leftBrace">
            <a:avLst/>
          </a:prstGeom>
          <a:solidFill>
            <a:schemeClr val="bg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615293AC-4BD0-34B5-BDDC-13535F69C056}"/>
              </a:ext>
            </a:extLst>
          </p:cNvPr>
          <p:cNvSpPr/>
          <p:nvPr/>
        </p:nvSpPr>
        <p:spPr bwMode="auto">
          <a:xfrm rot="16200000">
            <a:off x="2533509" y="1920240"/>
            <a:ext cx="182880" cy="330074"/>
          </a:xfrm>
          <a:prstGeom prst="leftBrace">
            <a:avLst/>
          </a:prstGeom>
          <a:solidFill>
            <a:schemeClr val="bg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E389AE35-4108-FA6D-6871-EC5C07E6EAB0}"/>
              </a:ext>
            </a:extLst>
          </p:cNvPr>
          <p:cNvSpPr/>
          <p:nvPr/>
        </p:nvSpPr>
        <p:spPr bwMode="auto">
          <a:xfrm rot="16200000">
            <a:off x="4892040" y="1728216"/>
            <a:ext cx="182880" cy="778017"/>
          </a:xfrm>
          <a:prstGeom prst="leftBrace">
            <a:avLst/>
          </a:prstGeom>
          <a:solidFill>
            <a:schemeClr val="bg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0DD54-D806-DB0C-FAAC-E4A028FA6EF1}"/>
              </a:ext>
            </a:extLst>
          </p:cNvPr>
          <p:cNvSpPr txBox="1"/>
          <p:nvPr/>
        </p:nvSpPr>
        <p:spPr>
          <a:xfrm>
            <a:off x="2142931" y="2615184"/>
            <a:ext cx="3545027" cy="369332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b="1" dirty="0">
                <a:solidFill>
                  <a:srgbClr val="00B0F0"/>
                </a:solidFill>
              </a:rPr>
              <a:t>Size of smallest/standard  COA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EA837D-632A-8FA0-3A48-D011EED633DA}"/>
              </a:ext>
            </a:extLst>
          </p:cNvPr>
          <p:cNvSpPr txBox="1"/>
          <p:nvPr/>
        </p:nvSpPr>
        <p:spPr>
          <a:xfrm>
            <a:off x="4907225" y="2130552"/>
            <a:ext cx="3028862" cy="369332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b="1" dirty="0">
                <a:solidFill>
                  <a:srgbClr val="00B0F0"/>
                </a:solidFill>
              </a:rPr>
              <a:t>Number</a:t>
            </a:r>
            <a:r>
              <a:rPr lang="en-US" sz="1800" dirty="0"/>
              <a:t> </a:t>
            </a:r>
            <a:r>
              <a:rPr lang="en-US" sz="1800" b="1" dirty="0">
                <a:solidFill>
                  <a:srgbClr val="00B0F0"/>
                </a:solidFill>
              </a:rPr>
              <a:t>of distinct COAs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C1B633-ECF3-2AC6-7BC2-38A8049728EA}"/>
              </a:ext>
            </a:extLst>
          </p:cNvPr>
          <p:cNvSpPr txBox="1"/>
          <p:nvPr/>
        </p:nvSpPr>
        <p:spPr>
          <a:xfrm>
            <a:off x="931931" y="2130552"/>
            <a:ext cx="1907988" cy="369333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b="1" dirty="0">
                <a:solidFill>
                  <a:srgbClr val="00B0F0"/>
                </a:solidFill>
              </a:rPr>
              <a:t>Total Orderings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12BFFC-BD8B-F4A5-58C0-1FF1B06D2279}"/>
              </a:ext>
            </a:extLst>
          </p:cNvPr>
          <p:cNvCxnSpPr>
            <a:cxnSpLocks/>
          </p:cNvCxnSpPr>
          <p:nvPr/>
        </p:nvCxnSpPr>
        <p:spPr bwMode="auto">
          <a:xfrm>
            <a:off x="3905889" y="2240280"/>
            <a:ext cx="0" cy="37995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38044698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90ABF-3B6C-AD94-D455-F6438BB72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A3EC3-5B5D-980A-2573-B422DB5FD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Using Multiple COAs—Comparing and Stacking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05761-77A3-C4C7-0007-7AE02380A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800"/>
              </a:spcBef>
              <a:buNone/>
            </a:pPr>
            <a:r>
              <a:rPr lang="en-US" dirty="0"/>
              <a:t>We can approximate SVs with multiple COAs separately</a:t>
            </a:r>
          </a:p>
          <a:p>
            <a:pPr>
              <a:spcBef>
                <a:spcPts val="240"/>
              </a:spcBef>
            </a:pPr>
            <a:r>
              <a:rPr lang="en-US" dirty="0"/>
              <a:t>Yielding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estimates of </a:t>
            </a:r>
            <a:r>
              <a:rPr lang="en-US" dirty="0"/>
              <a:t>our approximation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accuracy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dirty="0"/>
              <a:t>We can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stack</a:t>
            </a:r>
            <a:r>
              <a:rPr lang="en-US" dirty="0"/>
              <a:t> 2 COAs, for </a:t>
            </a:r>
            <a:r>
              <a:rPr lang="en-US" b="1" i="1" dirty="0">
                <a:latin typeface="Cambria Math"/>
              </a:rPr>
              <a:t>2 n (n-1)  </a:t>
            </a:r>
            <a:r>
              <a:rPr lang="en-US" dirty="0"/>
              <a:t>orderings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dirty="0"/>
              <a:t>We can stack </a:t>
            </a:r>
            <a:r>
              <a:rPr lang="en-US" b="1" i="1" dirty="0">
                <a:latin typeface="Cambria Math"/>
              </a:rPr>
              <a:t>m</a:t>
            </a:r>
            <a:r>
              <a:rPr lang="en-US" dirty="0"/>
              <a:t> COAs, for </a:t>
            </a:r>
            <a:r>
              <a:rPr lang="en-US" b="1" i="1" dirty="0">
                <a:latin typeface="Cambria Math"/>
              </a:rPr>
              <a:t>m n (n-1) </a:t>
            </a:r>
            <a:r>
              <a:rPr lang="en-US" dirty="0"/>
              <a:t>) orderings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dirty="0"/>
              <a:t>Stacking makes a larger COA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Maintaining </a:t>
            </a:r>
            <a:r>
              <a:rPr lang="en-US" dirty="0" err="1"/>
              <a:t>equi</a:t>
            </a:r>
            <a:r>
              <a:rPr lang="en-US" dirty="0"/>
              <a:t>-positioning and pairwise </a:t>
            </a:r>
            <a:r>
              <a:rPr lang="en-US" dirty="0" err="1"/>
              <a:t>equi</a:t>
            </a:r>
            <a:r>
              <a:rPr lang="en-US" dirty="0"/>
              <a:t>-precedence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Yielding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greater precision </a:t>
            </a:r>
            <a:r>
              <a:rPr lang="en-US" dirty="0"/>
              <a:t>in estimates</a:t>
            </a:r>
          </a:p>
          <a:p>
            <a:pPr marL="0" indent="0">
              <a:buNone/>
            </a:pPr>
            <a:endParaRPr lang="en-US" sz="1800" b="1" i="1" dirty="0">
              <a:latin typeface="Cambria Math"/>
            </a:endParaRPr>
          </a:p>
          <a:p>
            <a:pPr marL="0" indent="0">
              <a:buNone/>
            </a:pPr>
            <a:endParaRPr lang="en-US" sz="1800" b="1" i="1" dirty="0">
              <a:latin typeface="Cambria Math"/>
            </a:endParaRPr>
          </a:p>
          <a:p>
            <a:pPr marL="0" indent="0">
              <a:buNone/>
            </a:pPr>
            <a:endParaRPr lang="en-US" sz="1800" b="1" i="1" dirty="0">
              <a:latin typeface="Cambria Math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A7490-1EE2-02B9-083D-D9874D0EB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4882896"/>
            <a:ext cx="1043609" cy="265176"/>
          </a:xfrm>
        </p:spPr>
        <p:txBody>
          <a:bodyPr/>
          <a:lstStyle/>
          <a:p>
            <a:fld id="{5094B349-2FA9-4691-A40D-829E22088964}" type="slidenum">
              <a:rPr lang="en-US" smtClean="0"/>
              <a:pPr/>
              <a:t>36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92554310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73072-9F06-2000-279F-2E3A49C32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504E-B326-1D29-E6AC-AAFC1849F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u="sng" dirty="0"/>
              <a:t>Within</a:t>
            </a:r>
            <a:r>
              <a:rPr lang="en-US" sz="2800" dirty="0"/>
              <a:t> COAs, Experimental Design Pays Off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4C74D-59A0-AA94-4466-FA40C484E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37</a:t>
            </a:fld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586517-94D5-0F9D-989F-AA4BC6E8C543}"/>
              </a:ext>
            </a:extLst>
          </p:cNvPr>
          <p:cNvSpPr txBox="1"/>
          <p:nvPr/>
        </p:nvSpPr>
        <p:spPr>
          <a:xfrm>
            <a:off x="616687" y="3890374"/>
            <a:ext cx="8276385" cy="707886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Actual COA accuracy is far better </a:t>
            </a:r>
            <a:r>
              <a:rPr lang="en-US" sz="2000" dirty="0"/>
              <a:t>than just </a:t>
            </a:r>
            <a:r>
              <a:rPr lang="en-US" sz="2000" b="1" i="1" dirty="0">
                <a:latin typeface="Cambria Math"/>
              </a:rPr>
              <a:t>SD/sqrt(N) 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For random, undesigned, orderings, we get the expected </a:t>
            </a:r>
            <a:r>
              <a:rPr lang="en-US" sz="2000" b="1" i="1" dirty="0">
                <a:latin typeface="Cambria Math"/>
              </a:rPr>
              <a:t>SD/sqrt(N)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3E1886-5102-495A-CA8A-B1FAC1796E05}"/>
              </a:ext>
            </a:extLst>
          </p:cNvPr>
          <p:cNvSpPr txBox="1"/>
          <p:nvPr/>
        </p:nvSpPr>
        <p:spPr>
          <a:xfrm>
            <a:off x="696915" y="1361767"/>
            <a:ext cx="1815227" cy="2246769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We can calculate SEs using variance across all orderings within a design.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596216-1D2B-3655-7C3A-8E95ED08A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290" y="914400"/>
            <a:ext cx="5766475" cy="29030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2217E7-28F7-B077-7C86-4F1EFA9455C3}"/>
              </a:ext>
            </a:extLst>
          </p:cNvPr>
          <p:cNvSpPr txBox="1"/>
          <p:nvPr/>
        </p:nvSpPr>
        <p:spPr>
          <a:xfrm>
            <a:off x="2925289" y="3200400"/>
            <a:ext cx="5890357" cy="365760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48E9F9-C84C-BAF9-5262-9FC61386C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914400"/>
            <a:ext cx="5766475" cy="290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0281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2233B-50D1-5545-EE76-5B05D7DB0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17968-AB45-1D0E-9C8B-A31BD9ED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15" y="400051"/>
            <a:ext cx="8619724" cy="289454"/>
          </a:xfrm>
        </p:spPr>
        <p:txBody>
          <a:bodyPr/>
          <a:lstStyle/>
          <a:p>
            <a:r>
              <a:rPr lang="en-US" sz="2800" dirty="0"/>
              <a:t>The Fine Print on COAs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EB300-ABF4-AC59-2F80-AFBAB90FE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5" y="1186961"/>
            <a:ext cx="6220079" cy="360626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COAs come from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Galois</a:t>
            </a:r>
            <a:r>
              <a:rPr lang="en-US" sz="2400" dirty="0"/>
              <a:t> Orthogonal Arrays</a:t>
            </a:r>
          </a:p>
          <a:p>
            <a:pPr>
              <a:lnSpc>
                <a:spcPct val="100000"/>
              </a:lnSpc>
            </a:pPr>
            <a:r>
              <a:rPr lang="en-US" dirty="0"/>
              <a:t>Those exist only for </a:t>
            </a:r>
            <a:r>
              <a:rPr lang="en-US" sz="2400" b="1" i="1" dirty="0">
                <a:latin typeface="Cambria Math"/>
              </a:rPr>
              <a:t>n</a:t>
            </a:r>
            <a:r>
              <a:rPr lang="en-US" dirty="0"/>
              <a:t>  that is prime or a power of a prime</a:t>
            </a:r>
          </a:p>
          <a:p>
            <a:pPr marL="0" indent="0">
              <a:buNone/>
            </a:pPr>
            <a:r>
              <a:rPr lang="en-US" sz="2400" dirty="0"/>
              <a:t>If our </a:t>
            </a:r>
            <a:r>
              <a:rPr lang="en-US" sz="2400" b="1" i="1" dirty="0">
                <a:latin typeface="Cambria Math"/>
              </a:rPr>
              <a:t>n</a:t>
            </a:r>
            <a:r>
              <a:rPr lang="en-US" sz="2400" dirty="0"/>
              <a:t> is not prime or a power, we have to:</a:t>
            </a:r>
          </a:p>
          <a:p>
            <a:r>
              <a:rPr lang="en-US" dirty="0"/>
              <a:t>Generate a COA for the next larger prime or power</a:t>
            </a:r>
          </a:p>
          <a:p>
            <a:r>
              <a:rPr lang="en-US" dirty="0"/>
              <a:t>Remove excess items from the orderings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Pretend their r-squared increment or added reach (or whatever) is always zero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0B5CA-90F6-A8CE-499F-3149CCDD6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4882896"/>
            <a:ext cx="1161889" cy="265176"/>
          </a:xfrm>
        </p:spPr>
        <p:txBody>
          <a:bodyPr/>
          <a:lstStyle/>
          <a:p>
            <a:fld id="{5094B349-2FA9-4691-A40D-829E22088964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21ECC0-6C7F-7711-468C-9C2DB9E11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184" y="172535"/>
            <a:ext cx="2180772" cy="2817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6D117C-62BF-22C3-1788-67A7025F6CD1}"/>
              </a:ext>
            </a:extLst>
          </p:cNvPr>
          <p:cNvSpPr txBox="1"/>
          <p:nvPr/>
        </p:nvSpPr>
        <p:spPr>
          <a:xfrm>
            <a:off x="7496695" y="3056487"/>
            <a:ext cx="1690228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Evariste Galois</a:t>
            </a:r>
          </a:p>
        </p:txBody>
      </p:sp>
    </p:spTree>
    <p:extLst>
      <p:ext uri="{BB962C8B-B14F-4D97-AF65-F5344CB8AC3E}">
        <p14:creationId xmlns:p14="http://schemas.microsoft.com/office/powerpoint/2010/main" val="252621342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F8C1-6DDC-CC77-E503-B67B12F1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014D-5D3A-14C7-A55A-35983138A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15" y="400051"/>
            <a:ext cx="8619724" cy="289454"/>
          </a:xfrm>
        </p:spPr>
        <p:txBody>
          <a:bodyPr/>
          <a:lstStyle/>
          <a:p>
            <a:r>
              <a:rPr lang="en-US" sz="2800" dirty="0"/>
              <a:t>The Fine Print on COAs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928FC-1EC7-F24C-51E4-7D9ABE897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404" y="1186961"/>
            <a:ext cx="7660504" cy="3606265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sz="2400" dirty="0"/>
              <a:t>If we remove </a:t>
            </a:r>
            <a:r>
              <a:rPr lang="en-US" sz="2400" dirty="0">
                <a:solidFill>
                  <a:srgbClr val="0070C0"/>
                </a:solidFill>
              </a:rPr>
              <a:t>just one </a:t>
            </a:r>
            <a:r>
              <a:rPr lang="en-US" sz="2400" dirty="0"/>
              <a:t>item, we </a:t>
            </a:r>
            <a:r>
              <a:rPr lang="en-US" sz="2400" dirty="0">
                <a:solidFill>
                  <a:srgbClr val="0070C0"/>
                </a:solidFill>
              </a:rPr>
              <a:t>still have </a:t>
            </a:r>
            <a:r>
              <a:rPr lang="en-US" sz="2400" dirty="0" err="1">
                <a:solidFill>
                  <a:srgbClr val="0070C0"/>
                </a:solidFill>
              </a:rPr>
              <a:t>equi</a:t>
            </a:r>
            <a:r>
              <a:rPr lang="en-US" sz="2400" dirty="0">
                <a:solidFill>
                  <a:srgbClr val="0070C0"/>
                </a:solidFill>
              </a:rPr>
              <a:t>-positioning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400" dirty="0"/>
              <a:t>If removing </a:t>
            </a:r>
            <a:r>
              <a:rPr lang="en-US" sz="2400" dirty="0">
                <a:solidFill>
                  <a:srgbClr val="C00000"/>
                </a:solidFill>
              </a:rPr>
              <a:t>two </a:t>
            </a:r>
            <a:r>
              <a:rPr lang="en-US" sz="2400" dirty="0"/>
              <a:t>or more, we </a:t>
            </a:r>
            <a:r>
              <a:rPr lang="en-US" sz="2400" b="1" dirty="0">
                <a:solidFill>
                  <a:srgbClr val="C00000"/>
                </a:solidFill>
              </a:rPr>
              <a:t>lose </a:t>
            </a:r>
            <a:r>
              <a:rPr lang="en-US" sz="2400" dirty="0" err="1">
                <a:solidFill>
                  <a:srgbClr val="C00000"/>
                </a:solidFill>
              </a:rPr>
              <a:t>equi</a:t>
            </a:r>
            <a:r>
              <a:rPr lang="en-US" sz="2400" dirty="0">
                <a:solidFill>
                  <a:srgbClr val="C00000"/>
                </a:solidFill>
              </a:rPr>
              <a:t>-positioning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400" dirty="0"/>
              <a:t>But we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keep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pairwise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equi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-precedence </a:t>
            </a:r>
            <a:r>
              <a:rPr lang="en-US" sz="2400" dirty="0"/>
              <a:t>with any number of removals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400" dirty="0"/>
              <a:t>Total number of orderings in design does </a:t>
            </a:r>
            <a:r>
              <a:rPr lang="en-US" sz="2400" u="sng" dirty="0"/>
              <a:t>not</a:t>
            </a:r>
            <a:r>
              <a:rPr lang="en-US" sz="2400" dirty="0"/>
              <a:t> shrink when items are removed.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19843-72C6-7BB6-AD44-42C5860283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4882896"/>
            <a:ext cx="1161889" cy="265176"/>
          </a:xfrm>
        </p:spPr>
        <p:txBody>
          <a:bodyPr/>
          <a:lstStyle/>
          <a:p>
            <a:fld id="{5094B349-2FA9-4691-A40D-829E22088964}" type="slidenum">
              <a:rPr lang="en-US" smtClean="0"/>
              <a:pPr/>
              <a:t>39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43935137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76733D8-85E8-FC11-0CD4-05DDCEE6B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18DA2CE-285C-5AFE-7995-0AAF89656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03120"/>
            <a:ext cx="8775802" cy="2916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37193B-50BF-1548-1E02-F024932AD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Dropped Items by Size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D0900-7C12-3012-1429-1C51D511A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6915" y="1035318"/>
            <a:ext cx="7742237" cy="13750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many cases, not a problem.</a:t>
            </a:r>
          </a:p>
          <a:p>
            <a:pPr marL="0" indent="0">
              <a:buNone/>
            </a:pPr>
            <a:r>
              <a:rPr lang="en-US" dirty="0"/>
              <a:t>Gets worse as size increases.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2A1D9-0832-7DA9-CB89-B29793EC60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3542BD-7B7E-952C-104A-AC96B7D0CCD5}"/>
              </a:ext>
            </a:extLst>
          </p:cNvPr>
          <p:cNvSpPr txBox="1"/>
          <p:nvPr/>
        </p:nvSpPr>
        <p:spPr>
          <a:xfrm rot="16200000">
            <a:off x="-725620" y="3326478"/>
            <a:ext cx="2182761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dirty="0"/>
              <a:t>COA Items Dropped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5F710D-DBD1-4207-E99F-B8F4E11CBF7B}"/>
              </a:ext>
            </a:extLst>
          </p:cNvPr>
          <p:cNvSpPr txBox="1">
            <a:spLocks/>
          </p:cNvSpPr>
          <p:nvPr/>
        </p:nvSpPr>
        <p:spPr>
          <a:xfrm>
            <a:off x="8961120" y="0"/>
            <a:ext cx="182880" cy="182880"/>
          </a:xfrm>
          <a:prstGeom prst="rect">
            <a:avLst/>
          </a:prstGeom>
          <a:solidFill>
            <a:srgbClr val="00FF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54506650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DDAC0-639E-D42D-3910-ADD832B4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5FAD2-AD7A-B0AB-32E3-47024206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How Bad is the Equi-Positioning Imbalance?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98170-09EE-ACAC-9BAD-BD49317B8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1F092-BDA3-C888-2034-8832FB8F01CC}"/>
              </a:ext>
            </a:extLst>
          </p:cNvPr>
          <p:cNvSpPr txBox="1"/>
          <p:nvPr/>
        </p:nvSpPr>
        <p:spPr>
          <a:xfrm>
            <a:off x="696914" y="1066343"/>
            <a:ext cx="2650444" cy="3631763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Not that bad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Beats random sampling, by far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Measured by CV of the item-by-position counts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(0 is perfect)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Worst for small designs where exact computation is feasible anyway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49E50B-3F8D-2831-330A-0A14344D3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91440"/>
            <a:ext cx="5639745" cy="4926269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B423F41-72AA-9438-20AD-91B87542E44C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376407488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84CBC-A916-2D7F-77F1-A9548DBC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9FA02-4179-A721-82BB-E6DC38C6EB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42</a:t>
            </a:fld>
            <a:endParaRPr lang="en-US" sz="1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4EB5A9-0B85-F5C6-CCE9-1EB2C23A2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915" y="1645920"/>
            <a:ext cx="7742237" cy="3163490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002060"/>
                </a:solidFill>
              </a:rPr>
              <a:t>When Are Shapley Values Informative?</a:t>
            </a:r>
          </a:p>
        </p:txBody>
      </p:sp>
    </p:spTree>
    <p:extLst>
      <p:ext uri="{BB962C8B-B14F-4D97-AF65-F5344CB8AC3E}">
        <p14:creationId xmlns:p14="http://schemas.microsoft.com/office/powerpoint/2010/main" val="4026825445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5E9A-9BFD-9479-A72F-D8B2F03D3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BBE1-CCD7-E859-5D0B-A3F862E3E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Do SVs </a:t>
            </a:r>
            <a:r>
              <a:rPr lang="en-US" sz="2800" b="1" dirty="0"/>
              <a:t>Really</a:t>
            </a:r>
            <a:r>
              <a:rPr lang="en-US" sz="2800" dirty="0"/>
              <a:t> Tell Us Anything?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5E7D9-D742-A29D-6954-E3C2A9138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/>
              <a:t>Let’s compare single-item TURF reaches vs. Shapley Values</a:t>
            </a:r>
          </a:p>
          <a:p>
            <a:r>
              <a:rPr lang="en-US" dirty="0"/>
              <a:t>Or, in KDRs, compare simple correlations with Shapley Values 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dirty="0"/>
              <a:t>If highly correlated, SVs aren’t really new information</a:t>
            </a:r>
          </a:p>
          <a:p>
            <a:r>
              <a:rPr lang="en-US" dirty="0"/>
              <a:t>Which suggests underlying analysis is not really new either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dirty="0"/>
              <a:t>If not so correlated, SVs and underlying analysis give new insights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dirty="0"/>
              <a:t>In this context, super-high correlation is bad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63893-E7C9-73A9-D054-55A1CB7A1A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43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75250645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8D82A-D2D2-1D52-C5F0-F088C34FF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15" y="481850"/>
            <a:ext cx="7742237" cy="332399"/>
          </a:xfrm>
        </p:spPr>
        <p:txBody>
          <a:bodyPr/>
          <a:lstStyle/>
          <a:p>
            <a:r>
              <a:rPr lang="en-US" sz="2800" dirty="0"/>
              <a:t>Do SVs </a:t>
            </a:r>
            <a:r>
              <a:rPr lang="en-US" sz="2800" b="1" dirty="0"/>
              <a:t>Really</a:t>
            </a:r>
            <a:r>
              <a:rPr lang="en-US" sz="2800" dirty="0"/>
              <a:t> Tell Us Anything?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87B3A-4F6C-0F22-918B-C99680F56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915" y="1187055"/>
            <a:ext cx="2641137" cy="3163490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1800"/>
              </a:spcAft>
              <a:buNone/>
            </a:pPr>
            <a:r>
              <a:rPr lang="en-US" dirty="0"/>
              <a:t>SVs clearly reveal a number of strengths hidden in the solo reaches</a:t>
            </a:r>
          </a:p>
          <a:p>
            <a:pPr marL="0" indent="0">
              <a:lnSpc>
                <a:spcPct val="100000"/>
              </a:lnSpc>
              <a:spcAft>
                <a:spcPts val="1800"/>
              </a:spcAft>
              <a:buNone/>
            </a:pPr>
            <a:r>
              <a:rPr lang="en-US" dirty="0"/>
              <a:t>Rank orders of many items change substantially</a:t>
            </a:r>
          </a:p>
          <a:p>
            <a:pPr marL="0" indent="0">
              <a:lnSpc>
                <a:spcPct val="100000"/>
              </a:lnSpc>
              <a:spcAft>
                <a:spcPts val="1800"/>
              </a:spcAft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Yes, </a:t>
            </a:r>
            <a:r>
              <a:rPr lang="en-US" dirty="0"/>
              <a:t>they tell us something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C1CA2-07F5-08E3-0DD7-DA6D52A8BB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5F0422-47F0-AF3B-71A3-6C199772D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91440"/>
            <a:ext cx="5639745" cy="4926269"/>
          </a:xfrm>
          <a:prstGeom prst="rect">
            <a:avLst/>
          </a:prstGeom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04E6BCA7-5EED-D199-E74F-39A61AA75906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</p:spTree>
    <p:extLst>
      <p:ext uri="{BB962C8B-B14F-4D97-AF65-F5344CB8AC3E}">
        <p14:creationId xmlns:p14="http://schemas.microsoft.com/office/powerpoint/2010/main" val="1995785915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8AE8B-D8A1-4023-EC27-28E83A7D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720" y="147182"/>
            <a:ext cx="7370126" cy="411110"/>
          </a:xfrm>
        </p:spPr>
        <p:txBody>
          <a:bodyPr vert="horz"/>
          <a:lstStyle/>
          <a:p>
            <a:r>
              <a:rPr lang="en-US" sz="2800" b="1" dirty="0"/>
              <a:t>Do We Learn From These?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2D9AD-B5DF-344C-9A3C-D5AE8FE62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4882896"/>
            <a:ext cx="9144000" cy="253950"/>
          </a:xfrm>
        </p:spPr>
        <p:txBody>
          <a:bodyPr/>
          <a:lstStyle/>
          <a:p>
            <a:fld id="{D3D7D411-04C0-43DB-8C1D-8991A8410425}" type="slidenum">
              <a:rPr lang="en-US" smtClean="0"/>
              <a:pPr/>
              <a:t>45</a:t>
            </a:fld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C840AF-6B50-F64A-2B7C-AA478A902826}"/>
              </a:ext>
            </a:extLst>
          </p:cNvPr>
          <p:cNvSpPr txBox="1"/>
          <p:nvPr/>
        </p:nvSpPr>
        <p:spPr>
          <a:xfrm>
            <a:off x="388374" y="3422030"/>
            <a:ext cx="879987" cy="400110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Yes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A337F161-EAD1-F077-079F-D2E79929941E}"/>
              </a:ext>
            </a:extLst>
          </p:cNvPr>
          <p:cNvSpPr txBox="1">
            <a:spLocks/>
          </p:cNvSpPr>
          <p:nvPr/>
        </p:nvSpPr>
        <p:spPr bwMode="auto">
          <a:xfrm>
            <a:off x="696914" y="4882896"/>
            <a:ext cx="8447085" cy="265176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4">
                    <a:lumMod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10000"/>
              </a:spcBef>
              <a:spcAft>
                <a:spcPct val="1000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/>
              <a:t>                             </a:t>
            </a:r>
            <a:r>
              <a:rPr lang="en-US" sz="1200" dirty="0"/>
              <a:t>2026 Sawtooth Research Conference                                   Lyon: Shapley Values for Large Problems 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C1112AE-42C1-A8DD-8591-203F755C7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48640"/>
            <a:ext cx="7459431" cy="435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98301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7714FDC-9E3E-BCB9-7B34-3F72BC407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068" y="47897"/>
            <a:ext cx="5639745" cy="49262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2284E2-ECED-0E03-0A19-C3A9CC7C7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0528" y="961407"/>
            <a:ext cx="3207570" cy="301463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376AC4-D154-64D1-0D62-466916F35B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79532">
            <a:off x="913716" y="-459433"/>
            <a:ext cx="9420675" cy="6280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0B00D2-EE07-6734-3A71-E8E086E66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Do We Learn from</a:t>
            </a:r>
            <a:br>
              <a:rPr lang="en-US" sz="2800" dirty="0"/>
            </a:br>
            <a:r>
              <a:rPr lang="en-US" sz="2800" dirty="0"/>
              <a:t>This TURF?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BF975-338A-E40A-BA4C-B0E79C4348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7D411-04C0-43DB-8C1D-8991A8410425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81D828C-0ABF-C058-98F2-83B56BFEA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915" y="1455173"/>
            <a:ext cx="2823033" cy="2895371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>
                <a:solidFill>
                  <a:srgbClr val="C00000"/>
                </a:solidFill>
              </a:rPr>
              <a:t>Not so much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Lots of local shifts, but nothing exciting overall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In real practice, you</a:t>
            </a:r>
          </a:p>
          <a:p>
            <a:pPr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</a:pPr>
            <a:r>
              <a:rPr lang="en-US" dirty="0"/>
              <a:t>Can always look at such a plot</a:t>
            </a:r>
          </a:p>
          <a:p>
            <a:pPr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</a:pPr>
            <a:r>
              <a:rPr lang="en-US" dirty="0"/>
              <a:t>Decide whether to use SVs or not</a:t>
            </a:r>
          </a:p>
        </p:txBody>
      </p:sp>
    </p:spTree>
    <p:extLst>
      <p:ext uri="{BB962C8B-B14F-4D97-AF65-F5344CB8AC3E}">
        <p14:creationId xmlns:p14="http://schemas.microsoft.com/office/powerpoint/2010/main" val="35953351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CFE35-E7E1-A307-2062-032587126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F484A-FA92-CD7A-29D6-B5499A201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When Shapley Values Tell Us Nothing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02CF6-A481-9390-8823-B20626F89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005840"/>
            <a:ext cx="7742237" cy="3611463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When</a:t>
            </a:r>
            <a:r>
              <a:rPr lang="en-US" dirty="0"/>
              <a:t> SVs align perfectly with solo/univariate item/variable scores,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way we are valuing combinations is nothing but: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“adding up the pieces”        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(ABC) =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(A) +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(B) +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(C)     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Then,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(X) </a:t>
            </a:r>
            <a:r>
              <a:rPr lang="en-US" b="1" dirty="0">
                <a:solidFill>
                  <a:srgbClr val="C00000"/>
                </a:solidFill>
              </a:rPr>
              <a:t>≡</a:t>
            </a:r>
            <a:r>
              <a:rPr lang="en-US" dirty="0"/>
              <a:t>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(X)</a:t>
            </a:r>
            <a:r>
              <a:rPr lang="en-US" dirty="0"/>
              <a:t> because    </a:t>
            </a:r>
            <a:r>
              <a:rPr lang="en-US" sz="1600" dirty="0"/>
              <a:t> </a:t>
            </a:r>
            <a:r>
              <a:rPr lang="en-US" dirty="0"/>
              <a:t>      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(ABC) =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(A) </a:t>
            </a:r>
            <a:r>
              <a:rPr lang="en-US" sz="11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(B) </a:t>
            </a:r>
            <a:r>
              <a:rPr lang="en-US" sz="11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C17B1-C749-4C94-74CE-F26A25663B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47</a:t>
            </a:fld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F0698-A533-A38C-0783-244C8C8BB97A}"/>
              </a:ext>
            </a:extLst>
          </p:cNvPr>
          <p:cNvSpPr txBox="1"/>
          <p:nvPr/>
        </p:nvSpPr>
        <p:spPr>
          <a:xfrm rot="5400000">
            <a:off x="6288526" y="864401"/>
            <a:ext cx="463811" cy="256480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b="1" dirty="0">
                <a:solidFill>
                  <a:srgbClr val="C00000"/>
                </a:solidFill>
              </a:rPr>
              <a:t>≡</a:t>
            </a:r>
          </a:p>
          <a:p>
            <a:pPr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</a:pPr>
            <a:endParaRPr lang="en-US" b="1" dirty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b="1" dirty="0">
                <a:solidFill>
                  <a:srgbClr val="C00000"/>
                </a:solidFill>
              </a:rPr>
              <a:t>≡</a:t>
            </a:r>
          </a:p>
          <a:p>
            <a:pPr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</a:pPr>
            <a:endParaRPr lang="en-US" b="1" dirty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b="1" dirty="0">
                <a:solidFill>
                  <a:srgbClr val="C00000"/>
                </a:solidFill>
              </a:rPr>
              <a:t>≡</a:t>
            </a:r>
          </a:p>
          <a:p>
            <a:pPr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BEA034-EFD0-8320-E0E4-D427A0552A6D}"/>
              </a:ext>
            </a:extLst>
          </p:cNvPr>
          <p:cNvSpPr txBox="1">
            <a:spLocks/>
          </p:cNvSpPr>
          <p:nvPr/>
        </p:nvSpPr>
        <p:spPr bwMode="auto">
          <a:xfrm>
            <a:off x="731519" y="1005839"/>
            <a:ext cx="7742237" cy="361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+mn-cs"/>
              </a:defRPr>
            </a:lvl2pPr>
            <a:lvl3pPr marL="98583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Lucida Grande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3pPr>
            <a:lvl4pPr marL="1433513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Lucida Grande"/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4pPr>
            <a:lvl5pPr marL="17922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Lucida Grande"/>
              <a:buChar char="»"/>
              <a:defRPr sz="1200">
                <a:solidFill>
                  <a:schemeClr val="tx1"/>
                </a:solidFill>
                <a:latin typeface="+mn-lt"/>
                <a:cs typeface="+mn-cs"/>
              </a:defRPr>
            </a:lvl5pPr>
            <a:lvl6pPr marL="22494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6pPr>
            <a:lvl7pPr marL="27066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31638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36210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None/>
            </a:pPr>
            <a:r>
              <a:rPr lang="en-US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When</a:t>
            </a:r>
            <a:r>
              <a:rPr lang="en-US" kern="0" dirty="0"/>
              <a:t> SVs align perfectly with solo/univariate item/variable scores,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-US" kern="0" dirty="0"/>
              <a:t>the way we are valuing combinations is nothing but: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-US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“adding up the pieces”        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(ABC) =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(A) +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(B) +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(C)     </a:t>
            </a:r>
            <a:endParaRPr lang="en-US" kern="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None/>
            </a:pPr>
            <a:r>
              <a:rPr lang="en-US" kern="0" dirty="0"/>
              <a:t>Then,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(X) </a:t>
            </a:r>
            <a:r>
              <a:rPr lang="en-US" b="1" kern="0" dirty="0">
                <a:solidFill>
                  <a:srgbClr val="C00000"/>
                </a:solidFill>
              </a:rPr>
              <a:t>≡</a:t>
            </a:r>
            <a:r>
              <a:rPr lang="en-US" kern="0" dirty="0"/>
              <a:t>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(X)</a:t>
            </a:r>
            <a:r>
              <a:rPr lang="en-US" kern="0" dirty="0"/>
              <a:t> because    </a:t>
            </a:r>
            <a:r>
              <a:rPr lang="en-US" sz="1600" kern="0" dirty="0"/>
              <a:t> </a:t>
            </a:r>
            <a:r>
              <a:rPr lang="en-US" kern="0" dirty="0"/>
              <a:t>      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(ABC) =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(A) </a:t>
            </a:r>
            <a:r>
              <a:rPr lang="en-US" sz="11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(B) </a:t>
            </a:r>
            <a:r>
              <a:rPr lang="en-US" sz="11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(C)</a:t>
            </a:r>
            <a:endParaRPr lang="en-US" kern="0" dirty="0"/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None/>
            </a:pPr>
            <a:r>
              <a:rPr lang="en-US" kern="0" dirty="0">
                <a:ea typeface="Cambria" panose="02040503050406030204" pitchFamily="18" charset="0"/>
              </a:rPr>
              <a:t>Also true (mostly) when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(ABC) </a:t>
            </a:r>
            <a:r>
              <a:rPr lang="en-US" sz="2400" b="1" kern="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≅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(A) +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(B) +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None/>
            </a:pPr>
            <a:r>
              <a:rPr lang="en-US" kern="0" dirty="0"/>
              <a:t>SVs give us no insight here--</a:t>
            </a:r>
            <a:r>
              <a:rPr lang="en-US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there is none (or little) to be had</a:t>
            </a:r>
          </a:p>
          <a:p>
            <a:pPr marL="0" indent="0">
              <a:buFont typeface="Arial"/>
              <a:buNone/>
            </a:pPr>
            <a:endParaRPr lang="en-US" kern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3041DF-0DD2-851C-6811-78537CE003FF}"/>
              </a:ext>
            </a:extLst>
          </p:cNvPr>
          <p:cNvSpPr txBox="1">
            <a:spLocks/>
          </p:cNvSpPr>
          <p:nvPr/>
        </p:nvSpPr>
        <p:spPr bwMode="auto">
          <a:xfrm>
            <a:off x="731518" y="1005838"/>
            <a:ext cx="7742237" cy="361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+mn-cs"/>
              </a:defRPr>
            </a:lvl2pPr>
            <a:lvl3pPr marL="98583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Lucida Grande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3pPr>
            <a:lvl4pPr marL="1433513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Lucida Grande"/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4pPr>
            <a:lvl5pPr marL="17922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Lucida Grande"/>
              <a:buChar char="»"/>
              <a:defRPr sz="1200">
                <a:solidFill>
                  <a:schemeClr val="tx1"/>
                </a:solidFill>
                <a:latin typeface="+mn-lt"/>
                <a:cs typeface="+mn-cs"/>
              </a:defRPr>
            </a:lvl5pPr>
            <a:lvl6pPr marL="22494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6pPr>
            <a:lvl7pPr marL="27066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31638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36210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None/>
            </a:pPr>
            <a:r>
              <a:rPr lang="en-US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When</a:t>
            </a:r>
            <a:r>
              <a:rPr lang="en-US" kern="0" dirty="0"/>
              <a:t> SVs align perfectly with solo/univariate item/variable scores,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-US" kern="0" dirty="0"/>
              <a:t>the way we are valuing combinations is nothing but: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-US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“adding up the pieces”        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(ABC) =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(A) +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(B) +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(C)     </a:t>
            </a:r>
            <a:endParaRPr lang="en-US" kern="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None/>
            </a:pPr>
            <a:r>
              <a:rPr lang="en-US" kern="0" dirty="0"/>
              <a:t>Then,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(X) </a:t>
            </a:r>
            <a:r>
              <a:rPr lang="en-US" b="1" kern="0" dirty="0">
                <a:solidFill>
                  <a:srgbClr val="C00000"/>
                </a:solidFill>
              </a:rPr>
              <a:t>≡</a:t>
            </a:r>
            <a:r>
              <a:rPr lang="en-US" kern="0" dirty="0"/>
              <a:t>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(X)</a:t>
            </a:r>
            <a:r>
              <a:rPr lang="en-US" kern="0" dirty="0"/>
              <a:t> because    </a:t>
            </a:r>
            <a:r>
              <a:rPr lang="en-US" sz="1600" kern="0" dirty="0"/>
              <a:t> </a:t>
            </a:r>
            <a:r>
              <a:rPr lang="en-US" kern="0" dirty="0"/>
              <a:t>      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(ABC) =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(A) </a:t>
            </a:r>
            <a:r>
              <a:rPr lang="en-US" sz="11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(B) </a:t>
            </a:r>
            <a:r>
              <a:rPr lang="en-US" sz="11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(C)</a:t>
            </a:r>
            <a:endParaRPr lang="en-US" kern="0" dirty="0"/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None/>
            </a:pPr>
            <a:r>
              <a:rPr lang="en-US" kern="0" dirty="0">
                <a:ea typeface="Cambria" panose="02040503050406030204" pitchFamily="18" charset="0"/>
              </a:rPr>
              <a:t>Also true (mostly) when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(ABC) </a:t>
            </a:r>
            <a:r>
              <a:rPr lang="en-US" sz="2400" b="1" kern="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≅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(A) +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(B) + </a:t>
            </a:r>
            <a:r>
              <a:rPr lang="en-US" sz="2400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b="1" i="1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None/>
            </a:pPr>
            <a:r>
              <a:rPr lang="en-US" kern="0" dirty="0"/>
              <a:t>SVs give us no insight here--</a:t>
            </a:r>
            <a:r>
              <a:rPr lang="en-US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there is none (or little) to be had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/>
              <a:buNone/>
            </a:pPr>
            <a:r>
              <a:rPr lang="en-US" kern="0" dirty="0"/>
              <a:t>In other words, </a:t>
            </a:r>
            <a:r>
              <a:rPr lang="en-US" b="1" kern="0" dirty="0">
                <a:solidFill>
                  <a:srgbClr val="0033CC"/>
                </a:solidFill>
              </a:rPr>
              <a:t>“the combination function is not interesting”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None/>
            </a:pPr>
            <a:r>
              <a:rPr lang="en-US" kern="0" dirty="0"/>
              <a:t>Or,                    </a:t>
            </a:r>
            <a:r>
              <a:rPr lang="en-US" b="1" kern="0" dirty="0">
                <a:solidFill>
                  <a:srgbClr val="0033CC"/>
                </a:solidFill>
              </a:rPr>
              <a:t>“the underlying analysis is not adding anything”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/>
              <a:buNone/>
            </a:pPr>
            <a:r>
              <a:rPr lang="en-US" kern="0" dirty="0"/>
              <a:t>But, </a:t>
            </a:r>
            <a:r>
              <a:rPr lang="en-US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business problem </a:t>
            </a:r>
            <a:r>
              <a:rPr lang="en-US" kern="0" dirty="0"/>
              <a:t>should drive the choice of analysis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/>
              <a:buNone/>
            </a:pPr>
            <a:endParaRPr lang="en-US" kern="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Arial"/>
              <a:buNone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1884298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094E0-7EA6-29E7-CC62-878904EF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C7DEC-9C36-52E2-308C-D7760491C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Size-Limited</a:t>
            </a:r>
            <a:r>
              <a:rPr lang="en-US" sz="2800" dirty="0"/>
              <a:t> Shapley Values*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EE8F8-5612-8900-E266-053DC162D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4" y="1049309"/>
            <a:ext cx="7742237" cy="316358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We may have </a:t>
            </a:r>
            <a:r>
              <a:rPr lang="en-US" b="1" i="1" dirty="0">
                <a:latin typeface="Cambria Math"/>
              </a:rPr>
              <a:t>n</a:t>
            </a:r>
            <a:r>
              <a:rPr lang="en-US" dirty="0"/>
              <a:t> items, but be interested only in combinations of up to </a:t>
            </a:r>
            <a:r>
              <a:rPr lang="en-US" b="1" i="1" dirty="0">
                <a:latin typeface="Cambria Math"/>
              </a:rPr>
              <a:t>k</a:t>
            </a:r>
            <a:r>
              <a:rPr lang="en-US" dirty="0"/>
              <a:t> at a time, </a:t>
            </a:r>
            <a:r>
              <a:rPr lang="en-US" b="1" i="1" dirty="0">
                <a:latin typeface="Cambria Math"/>
              </a:rPr>
              <a:t>k &lt; n  </a:t>
            </a:r>
            <a:r>
              <a:rPr lang="en-US" dirty="0"/>
              <a:t>or even</a:t>
            </a:r>
            <a:r>
              <a:rPr lang="en-US" sz="2400" dirty="0"/>
              <a:t> </a:t>
            </a:r>
            <a:r>
              <a:rPr lang="en-US" b="1" i="1" dirty="0">
                <a:latin typeface="Cambria Math"/>
              </a:rPr>
              <a:t>k &lt;&lt; 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So, consider orderings only up to </a:t>
            </a:r>
            <a:r>
              <a:rPr lang="en-US" b="1" i="1" dirty="0">
                <a:latin typeface="Cambria Math"/>
              </a:rPr>
              <a:t>k</a:t>
            </a:r>
            <a:r>
              <a:rPr lang="en-US" sz="1800" b="1" i="1" dirty="0">
                <a:latin typeface="Cambria Math"/>
              </a:rPr>
              <a:t> </a:t>
            </a:r>
            <a:r>
              <a:rPr lang="en-US" sz="2400" baseline="30000" dirty="0" err="1"/>
              <a:t>th</a:t>
            </a:r>
            <a:r>
              <a:rPr lang="en-US" dirty="0"/>
              <a:t> position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Or, combinations only up to size </a:t>
            </a:r>
            <a:r>
              <a:rPr lang="en-US" b="1" i="1" dirty="0">
                <a:latin typeface="Cambria Math"/>
              </a:rPr>
              <a:t>k</a:t>
            </a:r>
            <a:endParaRPr lang="en-US" sz="1800" b="1" i="1" dirty="0">
              <a:latin typeface="Cambria Math"/>
            </a:endParaRPr>
          </a:p>
          <a:p>
            <a:pPr marL="0" indent="0">
              <a:buNone/>
            </a:pPr>
            <a:endParaRPr lang="en-US" sz="1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We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lose</a:t>
            </a:r>
            <a:r>
              <a:rPr lang="en-US" dirty="0"/>
              <a:t> the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efficiency</a:t>
            </a:r>
            <a:r>
              <a:rPr lang="en-US" dirty="0"/>
              <a:t> property</a:t>
            </a:r>
          </a:p>
          <a:p>
            <a:r>
              <a:rPr lang="en-US" dirty="0"/>
              <a:t>Sum of the size-limited SVs no longer has any special meaning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potentially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gain</a:t>
            </a:r>
            <a:r>
              <a:rPr lang="en-US" dirty="0"/>
              <a:t> a lot of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business relevance</a:t>
            </a:r>
            <a:endParaRPr lang="en-US" sz="14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</a:rPr>
              <a:t>* </a:t>
            </a:r>
            <a:r>
              <a:rPr lang="en-US" sz="1600" i="1" u="sng" dirty="0">
                <a:solidFill>
                  <a:srgbClr val="000000"/>
                </a:solidFill>
              </a:rPr>
              <a:t>Not</a:t>
            </a:r>
            <a:r>
              <a:rPr lang="en-US" sz="1600" i="1" dirty="0">
                <a:solidFill>
                  <a:srgbClr val="000000"/>
                </a:solidFill>
              </a:rPr>
              <a:t> the same idea as “</a:t>
            </a:r>
            <a:r>
              <a:rPr lang="en-US" sz="1600" b="1" i="1" dirty="0">
                <a:latin typeface="Cambria Math"/>
              </a:rPr>
              <a:t>k </a:t>
            </a:r>
            <a:r>
              <a:rPr lang="en-US" sz="1600" i="1" dirty="0">
                <a:solidFill>
                  <a:srgbClr val="000000"/>
                </a:solidFill>
              </a:rPr>
              <a:t>-lateral,” “</a:t>
            </a:r>
            <a:r>
              <a:rPr lang="en-US" sz="1600" b="1" i="1" dirty="0">
                <a:latin typeface="Cambria Math"/>
              </a:rPr>
              <a:t>k </a:t>
            </a:r>
            <a:r>
              <a:rPr lang="en-US" sz="1600" i="1" dirty="0">
                <a:solidFill>
                  <a:srgbClr val="000000"/>
                </a:solidFill>
              </a:rPr>
              <a:t>-additive” or “size-truncated” games or values</a:t>
            </a:r>
            <a:endParaRPr lang="en-US" sz="1600" i="1" u="sng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434BB-ED7B-2B6D-8EF7-2F23E5651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48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88475322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3EBED-14C3-47BA-A383-9B7EE9F1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F6289-5D0F-FF18-DA2F-AD0A841C6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Size-Limited SVs and COAs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5531D-90DB-DCE2-0612-AC37BD395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Size-limited SVs </a:t>
            </a:r>
            <a:r>
              <a:rPr lang="en-US" dirty="0">
                <a:solidFill>
                  <a:srgbClr val="0070C0"/>
                </a:solidFill>
              </a:rPr>
              <a:t>may</a:t>
            </a:r>
            <a:r>
              <a:rPr lang="en-US" dirty="0"/>
              <a:t> be feasible using an all-combinations (of up to size </a:t>
            </a:r>
            <a:r>
              <a:rPr lang="en-US" b="1" i="1" dirty="0">
                <a:latin typeface="Cambria Math"/>
              </a:rPr>
              <a:t>k</a:t>
            </a:r>
            <a:r>
              <a:rPr lang="en-US" dirty="0"/>
              <a:t>) approach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Also can use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just the first </a:t>
            </a:r>
            <a:r>
              <a:rPr lang="en-US" sz="18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 Math"/>
              </a:rPr>
              <a:t>k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variables in each order from a COA</a:t>
            </a:r>
            <a:endParaRPr lang="en-US" dirty="0"/>
          </a:p>
          <a:p>
            <a:pPr>
              <a:lnSpc>
                <a:spcPct val="100000"/>
              </a:lnSpc>
              <a:spcBef>
                <a:spcPts val="240"/>
              </a:spcBef>
            </a:pPr>
            <a:r>
              <a:rPr lang="en-US" dirty="0"/>
              <a:t>Same number of total orderings to handle, just each one shorter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>
                <a:solidFill>
                  <a:srgbClr val="000000"/>
                </a:solidFill>
              </a:rPr>
              <a:t>For “</a:t>
            </a:r>
            <a:r>
              <a:rPr lang="en-US" dirty="0">
                <a:solidFill>
                  <a:srgbClr val="0070C0"/>
                </a:solidFill>
              </a:rPr>
              <a:t>pure</a:t>
            </a:r>
            <a:r>
              <a:rPr lang="en-US" dirty="0">
                <a:solidFill>
                  <a:srgbClr val="000000"/>
                </a:solidFill>
              </a:rPr>
              <a:t>” COAs (i.e., primes and powers), this </a:t>
            </a:r>
            <a:r>
              <a:rPr lang="en-US" dirty="0">
                <a:solidFill>
                  <a:srgbClr val="0070C0"/>
                </a:solidFill>
              </a:rPr>
              <a:t>maintains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equi</a:t>
            </a:r>
            <a:r>
              <a:rPr lang="en-US" dirty="0">
                <a:solidFill>
                  <a:srgbClr val="000000"/>
                </a:solidFill>
              </a:rPr>
              <a:t>-positioning and </a:t>
            </a:r>
            <a:r>
              <a:rPr lang="en-US" dirty="0" err="1">
                <a:solidFill>
                  <a:srgbClr val="000000"/>
                </a:solidFill>
              </a:rPr>
              <a:t>equi</a:t>
            </a:r>
            <a:r>
              <a:rPr lang="en-US" dirty="0">
                <a:solidFill>
                  <a:srgbClr val="000000"/>
                </a:solidFill>
              </a:rPr>
              <a:t>-precedence</a:t>
            </a:r>
          </a:p>
          <a:p>
            <a:pPr>
              <a:lnSpc>
                <a:spcPct val="100000"/>
              </a:lnSpc>
              <a:spcBef>
                <a:spcPts val="240"/>
              </a:spcBef>
            </a:pPr>
            <a:r>
              <a:rPr lang="en-US" dirty="0">
                <a:solidFill>
                  <a:srgbClr val="000000"/>
                </a:solidFill>
              </a:rPr>
              <a:t>For dropped-variable COAs (including dropping just one), not so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For 0/1 TURF, fast exact hypergeometric calculations still work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Can also impose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minimum</a:t>
            </a:r>
            <a:r>
              <a:rPr lang="en-US" dirty="0"/>
              <a:t> combo sizes – not clear if that’s useful</a:t>
            </a: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A4923-2A0B-A259-C18B-C8F26460C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49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10418961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FA0F3-E48A-11E6-23E8-23B89FA8F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C06CA-7CDF-0FFE-1DFB-087CA86CD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50</a:t>
            </a:fld>
            <a:endParaRPr lang="en-US" sz="120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7D06BA1-563B-0F90-A5EA-E5C4C4C8D9F2}"/>
              </a:ext>
            </a:extLst>
          </p:cNvPr>
          <p:cNvSpPr txBox="1">
            <a:spLocks/>
          </p:cNvSpPr>
          <p:nvPr/>
        </p:nvSpPr>
        <p:spPr>
          <a:xfrm>
            <a:off x="696915" y="1229255"/>
            <a:ext cx="2869245" cy="3514194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+mn-cs"/>
              </a:defRPr>
            </a:lvl2pPr>
            <a:lvl3pPr marL="98583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3pPr>
            <a:lvl4pPr marL="1433513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cs typeface="+mn-cs"/>
              </a:defRPr>
            </a:lvl4pPr>
            <a:lvl5pPr marL="17922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cs typeface="+mn-cs"/>
              </a:defRPr>
            </a:lvl5pPr>
            <a:lvl6pPr marL="22494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6pPr>
            <a:lvl7pPr marL="27066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31638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36210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/>
              <a:buNone/>
            </a:pPr>
            <a:r>
              <a:rPr lang="en-US" kern="0" dirty="0"/>
              <a:t>Lower correlations are more interesting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kern="0" dirty="0"/>
              <a:t>Within reason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/>
              <a:buNone/>
            </a:pPr>
            <a:r>
              <a:rPr lang="en-US" kern="0" dirty="0"/>
              <a:t>More going on with: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b="1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Smaller</a:t>
            </a:r>
            <a:r>
              <a:rPr lang="en-US" sz="1800" kern="0" dirty="0"/>
              <a:t> maximum </a:t>
            </a:r>
            <a:r>
              <a:rPr lang="en-US" sz="1800" b="1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combo sizes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b="1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Greater depths </a:t>
            </a:r>
            <a:r>
              <a:rPr lang="en-US" sz="1800" kern="0" dirty="0"/>
              <a:t>of reach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/>
              <a:buNone/>
            </a:pPr>
            <a:r>
              <a:rPr lang="en-US" kern="0" dirty="0"/>
              <a:t>BUT remember the business issue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590E786-99AC-9E26-17A3-599B1DE80B87}"/>
              </a:ext>
            </a:extLst>
          </p:cNvPr>
          <p:cNvSpPr txBox="1">
            <a:spLocks/>
          </p:cNvSpPr>
          <p:nvPr/>
        </p:nvSpPr>
        <p:spPr bwMode="auto">
          <a:xfrm>
            <a:off x="696915" y="400051"/>
            <a:ext cx="7742237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b="1" kern="0" dirty="0"/>
              <a:t>Size-Limited</a:t>
            </a:r>
            <a:r>
              <a:rPr lang="en-US" sz="2800" kern="0" dirty="0"/>
              <a:t> SVs Can</a:t>
            </a:r>
            <a:br>
              <a:rPr lang="en-US" sz="2800" kern="0" dirty="0"/>
            </a:br>
            <a:r>
              <a:rPr lang="en-US" sz="2800" kern="0" dirty="0"/>
              <a:t>Be More Interesting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AD213E-4876-AB8A-E720-7C118D101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365761"/>
            <a:ext cx="5346771" cy="467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18188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C7F0EB-F9FF-2B0C-2B66-872512D29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7A17F-B43F-6FA4-8988-8DC19DC840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51</a:t>
            </a:fld>
            <a:endParaRPr lang="en-US" sz="1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BBEB3B-5AAB-E1E6-2D59-D689FFF49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365760"/>
            <a:ext cx="5346771" cy="4670359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E382ADF-CC7C-231C-7C98-82F3B9AA3071}"/>
              </a:ext>
            </a:extLst>
          </p:cNvPr>
          <p:cNvSpPr txBox="1">
            <a:spLocks/>
          </p:cNvSpPr>
          <p:nvPr/>
        </p:nvSpPr>
        <p:spPr>
          <a:xfrm>
            <a:off x="696915" y="1418986"/>
            <a:ext cx="2941812" cy="3470564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+mn-cs"/>
              </a:defRPr>
            </a:lvl2pPr>
            <a:lvl3pPr marL="98583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3pPr>
            <a:lvl4pPr marL="1433513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cs typeface="+mn-cs"/>
              </a:defRPr>
            </a:lvl4pPr>
            <a:lvl5pPr marL="17922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cs typeface="+mn-cs"/>
              </a:defRPr>
            </a:lvl5pPr>
            <a:lvl6pPr marL="22494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6pPr>
            <a:lvl7pPr marL="27066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31638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36210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/>
              <a:buNone/>
            </a:pPr>
            <a:r>
              <a:rPr lang="en-US" kern="0" dirty="0"/>
              <a:t>Lower=more interesting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kern="0" dirty="0">
                <a:solidFill>
                  <a:srgbClr val="C00000"/>
                </a:solidFill>
              </a:rPr>
              <a:t>But a lot of these get </a:t>
            </a:r>
            <a:r>
              <a:rPr lang="en-US" sz="1800" b="1" kern="0" dirty="0">
                <a:solidFill>
                  <a:srgbClr val="C00000"/>
                </a:solidFill>
              </a:rPr>
              <a:t>way</a:t>
            </a:r>
            <a:r>
              <a:rPr lang="en-US" sz="1800" kern="0" dirty="0">
                <a:solidFill>
                  <a:srgbClr val="C00000"/>
                </a:solidFill>
              </a:rPr>
              <a:t> low.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/>
              <a:buNone/>
            </a:pPr>
            <a:r>
              <a:rPr lang="en-US" kern="0" dirty="0"/>
              <a:t>Again, for more interest: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Smaller</a:t>
            </a:r>
            <a:r>
              <a:rPr lang="en-US" sz="1800" kern="0" dirty="0"/>
              <a:t> maximum </a:t>
            </a:r>
            <a:r>
              <a:rPr lang="en-US" sz="1800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combo sizes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kern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Greater depths </a:t>
            </a:r>
            <a:r>
              <a:rPr lang="en-US" sz="1800" kern="0" dirty="0"/>
              <a:t>of reach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/>
              <a:buNone/>
            </a:pPr>
            <a:r>
              <a:rPr lang="en-US" kern="0" dirty="0"/>
              <a:t>AND remember the business issue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0828DF-DE08-AC1F-0CBF-1CC370E2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15" y="400051"/>
            <a:ext cx="7742237" cy="332399"/>
          </a:xfrm>
        </p:spPr>
        <p:txBody>
          <a:bodyPr/>
          <a:lstStyle/>
          <a:p>
            <a:r>
              <a:rPr lang="en-US" sz="2800" dirty="0"/>
              <a:t>Size-Limited SVs Can </a:t>
            </a:r>
            <a:br>
              <a:rPr lang="en-US" sz="2800" dirty="0"/>
            </a:br>
            <a:r>
              <a:rPr lang="en-US" sz="2800" dirty="0"/>
              <a:t>Be More Interesting</a:t>
            </a:r>
          </a:p>
        </p:txBody>
      </p:sp>
    </p:spTree>
    <p:extLst>
      <p:ext uri="{BB962C8B-B14F-4D97-AF65-F5344CB8AC3E}">
        <p14:creationId xmlns:p14="http://schemas.microsoft.com/office/powerpoint/2010/main" val="1366406283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57164-6F93-A1BF-5509-65B569FC4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39C92-3187-2EB8-EF38-4D89A3E16D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52</a:t>
            </a:fld>
            <a:endParaRPr lang="en-US" sz="1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A8926A-BCC0-E778-77A3-EC9B50A806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915" y="1187055"/>
            <a:ext cx="7742237" cy="3163490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sz="48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rgbClr val="002060"/>
                </a:solidFill>
              </a:rPr>
              <a:t>TURF on MaxDiff</a:t>
            </a:r>
          </a:p>
        </p:txBody>
      </p:sp>
    </p:spTree>
    <p:extLst>
      <p:ext uri="{BB962C8B-B14F-4D97-AF65-F5344CB8AC3E}">
        <p14:creationId xmlns:p14="http://schemas.microsoft.com/office/powerpoint/2010/main" val="3640877055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0C400-38DD-F03A-1FF2-FAB83E90E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8B55A-DF48-ECE9-0D31-6C2E3B3B8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5" y="1398172"/>
            <a:ext cx="7742237" cy="3163583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TURF is frequently done on MaxDiff data.  Three main options: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Option </a:t>
            </a:r>
            <a:r>
              <a:rPr lang="en-US" b="1" dirty="0">
                <a:solidFill>
                  <a:srgbClr val="0033CC"/>
                </a:solidFill>
              </a:rPr>
              <a:t>1</a:t>
            </a:r>
            <a:r>
              <a:rPr lang="en-US" dirty="0"/>
              <a:t>: 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Pre-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thresholding </a:t>
            </a:r>
            <a:r>
              <a:rPr lang="en-US" dirty="0"/>
              <a:t>(or “item thresholding”) to make item utilities or scores 0/1 up-front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Option </a:t>
            </a:r>
            <a:r>
              <a:rPr lang="en-US" b="1" dirty="0">
                <a:solidFill>
                  <a:srgbClr val="0033CC"/>
                </a:solidFill>
              </a:rPr>
              <a:t>2</a:t>
            </a:r>
            <a:r>
              <a:rPr lang="en-US" dirty="0"/>
              <a:t>:  Scores and total scores—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”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weighted probability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” </a:t>
            </a:r>
            <a:r>
              <a:rPr lang="en-US" dirty="0"/>
              <a:t>scores/methods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Option </a:t>
            </a:r>
            <a:r>
              <a:rPr lang="en-US" b="1" dirty="0">
                <a:solidFill>
                  <a:srgbClr val="0033CC"/>
                </a:solidFill>
              </a:rPr>
              <a:t>3</a:t>
            </a:r>
            <a:r>
              <a:rPr lang="en-US" dirty="0"/>
              <a:t>: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-thresholding</a:t>
            </a:r>
            <a:r>
              <a:rPr lang="en-US" dirty="0"/>
              <a:t>—minimum imposed on total scores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31E0C-B20B-AE95-A1CB-5CCFF88A2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TURF and MaxDiff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59FE0-D5B3-D3F1-7DA7-7FBE3880CB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53</a:t>
            </a:fld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AD3DE-A3E9-54F1-6F89-AD2A67C3F978}"/>
              </a:ext>
            </a:extLst>
          </p:cNvPr>
          <p:cNvSpPr txBox="1">
            <a:spLocks/>
          </p:cNvSpPr>
          <p:nvPr/>
        </p:nvSpPr>
        <p:spPr>
          <a:xfrm>
            <a:off x="8961120" y="0"/>
            <a:ext cx="182880" cy="182880"/>
          </a:xfrm>
          <a:prstGeom prst="rect">
            <a:avLst/>
          </a:prstGeom>
          <a:solidFill>
            <a:srgbClr val="0099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09013325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TURF and “MaxDiff” – Opt. 1: </a:t>
            </a:r>
            <a:r>
              <a:rPr lang="en-US" sz="2800" b="1" dirty="0"/>
              <a:t>Pre-</a:t>
            </a:r>
            <a:r>
              <a:rPr lang="en-US" sz="2800" dirty="0"/>
              <a:t>Thresholding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1163811"/>
                <a:ext cx="7742237" cy="3163583"/>
              </a:xfrm>
            </p:spPr>
            <p:txBody>
              <a:bodyPr/>
              <a:lstStyle/>
              <a:p>
                <a:pPr marL="0" indent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Option 1:  Make underlying respondent data (MaxDiff scores/utilities) 0/1.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Say any score (or utility) above some cutoff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𝒄</m:t>
                    </m:r>
                  </m:oMath>
                </a14:m>
                <a:r>
                  <a:rPr lang="en-US" dirty="0"/>
                  <a:t> is a hit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US" sz="1800" dirty="0"/>
                  <a:t>For anchored MaxDiff, anchor is a natural respondent-specific cutoff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US" sz="1800" dirty="0"/>
                  <a:t>For unanchored, </a:t>
                </a:r>
                <a:r>
                  <a:rPr lang="en-US" sz="18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weighted probability score &gt; 80%</a:t>
                </a:r>
                <a:r>
                  <a:rPr lang="en-US" sz="1800" dirty="0"/>
                  <a:t> is a good default</a:t>
                </a:r>
              </a:p>
              <a:p>
                <a:pPr marL="0" indent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Once done, it’s a </a:t>
                </a:r>
                <a:r>
                  <a:rPr lang="en-US" b="1" dirty="0">
                    <a:solidFill>
                      <a:srgbClr val="0033CC"/>
                    </a:solidFill>
                  </a:rPr>
                  <a:t>standard TURF</a:t>
                </a:r>
                <a:r>
                  <a:rPr lang="en-US" dirty="0"/>
                  <a:t>, </a:t>
                </a:r>
                <a:r>
                  <a:rPr lang="en-US" i="1" dirty="0">
                    <a:solidFill>
                      <a:srgbClr val="0033CC"/>
                    </a:solidFill>
                  </a:rPr>
                  <a:t>including fast exact SVs calcs.</a:t>
                </a:r>
              </a:p>
              <a:p>
                <a:pPr marL="0" indent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Like using top-2-box on ratings, throws away inherent granularity</a:t>
                </a:r>
              </a:p>
              <a:p>
                <a:pPr lvl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Why do MaxDiff and then “dumb it down” for TURF?</a:t>
                </a:r>
              </a:p>
              <a:p>
                <a:pPr lvl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/>
                  <a:t>This is </a:t>
                </a:r>
                <a:r>
                  <a:rPr lang="en-US" sz="20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TURF on “MaxDiff” </a:t>
                </a:r>
                <a:r>
                  <a:rPr lang="en-US" sz="2000" dirty="0"/>
                  <a:t>with emphasis on the quotes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1163811"/>
                <a:ext cx="7742237" cy="3163583"/>
              </a:xfrm>
              <a:blipFill>
                <a:blip r:embed="rId3"/>
                <a:stretch>
                  <a:fillRect l="-1969" t="-2312" b="-6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54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97744094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“TURF” &amp; MaxDiff, Opt. 2: </a:t>
            </a:r>
            <a:r>
              <a:rPr lang="en-US" sz="2800" b="1" dirty="0"/>
              <a:t>Weighted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6915" y="886011"/>
                <a:ext cx="7994801" cy="320420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Option 2:  “Weighted Probability Score” as the value function</a:t>
                </a:r>
              </a:p>
              <a:p>
                <a:pPr marL="0" indent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dirty="0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sz="1800" b="1" i="1" dirty="0" smtClean="0"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= </m:t>
                    </m:r>
                    <m:r>
                      <a:rPr lang="en-US" sz="1800" b="1" i="1" dirty="0" err="1" smtClean="0">
                        <a:latin typeface="Cambria Math"/>
                      </a:rPr>
                      <m:t>𝒆𝒙𝒑</m:t>
                    </m:r>
                    <m:r>
                      <a:rPr lang="en-US" sz="1800" b="1" i="1" dirty="0" smtClean="0">
                        <a:latin typeface="Cambria Math"/>
                      </a:rPr>
                      <m:t>⁡( 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/>
                          </a:rPr>
                          <m:t>𝒖𝒕𝒊𝒍</m:t>
                        </m:r>
                      </m:e>
                      <m:sub>
                        <m:r>
                          <a:rPr lang="en-US" sz="1800" b="1" i="1" smtClean="0"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b="1" dirty="0"/>
                  <a:t>, </a:t>
                </a:r>
                <a:r>
                  <a:rPr lang="en-US" sz="1800" dirty="0"/>
                  <a:t>scores for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individual</a:t>
                </a:r>
                <a:r>
                  <a:rPr lang="en-US" sz="1800" b="1" dirty="0">
                    <a:solidFill>
                      <a:srgbClr val="0033CC"/>
                    </a:solidFill>
                  </a:rPr>
                  <a:t> </a:t>
                </a:r>
                <a:r>
                  <a:rPr lang="en-US" sz="1800" dirty="0"/>
                  <a:t>items can be: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400" b="1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sz="2400" b="1" i="1" smtClean="0">
                                <a:latin typeface="Cambria Math"/>
                              </a:rPr>
                              <m:t>𝒂</m:t>
                            </m:r>
                            <m:r>
                              <a:rPr lang="en-US" sz="2400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b="1" i="1" smtClean="0">
                                <a:latin typeface="Cambria Math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rgbClr val="0033CC"/>
                    </a:solidFill>
                  </a:rPr>
                  <a:t>Individual utility probability score </a:t>
                </a:r>
                <a:r>
                  <a:rPr lang="en-US" dirty="0"/>
                  <a:t>(Sawtooth default)</a:t>
                </a:r>
              </a:p>
              <a:p>
                <a:pPr marL="447675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                         (probability of beating 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a-1</a:t>
                </a:r>
                <a:r>
                  <a:rPr lang="en-US" dirty="0"/>
                  <a:t> “average” items)</a:t>
                </a:r>
              </a:p>
              <a:p>
                <a:pPr lvl="2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400" dirty="0"/>
                  <a:t>Utilities </a:t>
                </a:r>
                <a:r>
                  <a:rPr lang="en-US" sz="1400" u="sng" dirty="0"/>
                  <a:t>must</a:t>
                </a:r>
                <a:r>
                  <a:rPr lang="en-US" sz="1400" dirty="0"/>
                  <a:t> be zero-centered before exponentiation in this method</a:t>
                </a:r>
              </a:p>
              <a:p>
                <a:pPr lvl="2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400" dirty="0"/>
                  <a:t>For TURF, these are used directly, </a:t>
                </a:r>
                <a:r>
                  <a:rPr lang="en-US" sz="1400" u="sng" dirty="0"/>
                  <a:t>not rescaled</a:t>
                </a:r>
                <a:r>
                  <a:rPr lang="en-US" sz="1400" dirty="0"/>
                  <a:t> to add to 100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sz="2400" b="1" i="1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400" b="1" i="1">
                                <a:latin typeface="Cambria Math"/>
                              </a:rPr>
                              <m:t>+</m:t>
                            </m:r>
                            <m:r>
                              <a:rPr lang="en-US" sz="2400" b="1" i="1">
                                <a:latin typeface="Cambria Math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rgbClr val="0033CC"/>
                    </a:solidFill>
                  </a:rPr>
                  <a:t>Anchored</a:t>
                </a:r>
                <a:r>
                  <a:rPr lang="en-US" dirty="0"/>
                  <a:t> method (probability of beating no-buy “anchor”)</a:t>
                </a:r>
              </a:p>
              <a:p>
                <a:pPr lvl="2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400" dirty="0"/>
                  <a:t>Utility of anchor </a:t>
                </a:r>
                <a:r>
                  <a:rPr lang="en-US" sz="1400" u="sng" dirty="0"/>
                  <a:t>must</a:t>
                </a:r>
                <a:r>
                  <a:rPr lang="en-US" sz="1400" dirty="0"/>
                  <a:t> be zero, and rest are based off that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Weighted probability </a:t>
                </a:r>
                <a:r>
                  <a:rPr lang="en-US" dirty="0"/>
                  <a:t>form of </a:t>
                </a:r>
                <a:r>
                  <a:rPr lang="en-US" b="1" dirty="0">
                    <a:solidFill>
                      <a:srgbClr val="C00000"/>
                    </a:solidFill>
                  </a:rPr>
                  <a:t>total</a:t>
                </a:r>
                <a:r>
                  <a:rPr lang="en-US" dirty="0"/>
                  <a:t> score measure for a </a:t>
                </a:r>
                <a:r>
                  <a:rPr lang="en-US" b="1" dirty="0">
                    <a:solidFill>
                      <a:srgbClr val="C00000"/>
                    </a:solidFill>
                  </a:rPr>
                  <a:t>combination: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rgbClr val="0033CC"/>
                    </a:solidFill>
                  </a:rPr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b="1" i="1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1800" b="1" dirty="0">
                    <a:solidFill>
                      <a:srgbClr val="0033CC"/>
                    </a:solidFill>
                  </a:rPr>
                  <a:t>above by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𝒋</m:t>
                        </m:r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∈</m:t>
                        </m:r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𝑺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1800" b="1" dirty="0">
                    <a:solidFill>
                      <a:srgbClr val="0033CC"/>
                    </a:solidFill>
                  </a:rPr>
                  <a:t> -- total of scores for items in combination </a:t>
                </a:r>
                <a:r>
                  <a:rPr lang="en-US" sz="1800" b="1" i="1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915" y="886011"/>
                <a:ext cx="7994801" cy="3204208"/>
              </a:xfrm>
              <a:blipFill>
                <a:blip r:embed="rId3"/>
                <a:stretch>
                  <a:fillRect l="-1905" t="-2281" b="-38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55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24109937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C249-6CED-508F-5986-4032BBB2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B90E93D-11B7-02BF-234A-BB4A634C5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2880"/>
            <a:ext cx="7898221" cy="460638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FA9A4-D1DA-0E4A-BD3A-36ADF4D174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56</a:t>
            </a:fld>
            <a:endParaRPr lang="en-US" sz="12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8B9512B-3576-11D7-23C1-51683EF414CD}"/>
              </a:ext>
            </a:extLst>
          </p:cNvPr>
          <p:cNvSpPr txBox="1">
            <a:spLocks/>
          </p:cNvSpPr>
          <p:nvPr/>
        </p:nvSpPr>
        <p:spPr bwMode="auto">
          <a:xfrm>
            <a:off x="593676" y="129663"/>
            <a:ext cx="7742237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kern="0" dirty="0" err="1"/>
              <a:t>MaxDiffs</a:t>
            </a:r>
            <a:r>
              <a:rPr lang="en-US" sz="2800" kern="0" dirty="0"/>
              <a:t> by </a:t>
            </a:r>
            <a:r>
              <a:rPr lang="en-US" sz="2800" b="1" kern="0" dirty="0">
                <a:solidFill>
                  <a:srgbClr val="C00000"/>
                </a:solidFill>
              </a:rPr>
              <a:t>Weighted Prob Scores</a:t>
            </a:r>
          </a:p>
          <a:p>
            <a:r>
              <a:rPr lang="en-US" kern="0" dirty="0"/>
              <a:t>(Sawtooth Default)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880DB6-B485-9CE4-5942-7546C7697A35}"/>
              </a:ext>
            </a:extLst>
          </p:cNvPr>
          <p:cNvSpPr txBox="1"/>
          <p:nvPr/>
        </p:nvSpPr>
        <p:spPr>
          <a:xfrm>
            <a:off x="593676" y="1152311"/>
            <a:ext cx="4380271" cy="1015663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Very little going on here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i="1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Scores can’t be very far from additive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5FA4690-2B10-63E3-2E36-B81102229C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51655">
            <a:off x="-501182" y="1190606"/>
            <a:ext cx="7427765" cy="49518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D5CB9CB-02AD-7620-BCA5-B325E7081C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6054" r="57096" b="40821"/>
          <a:stretch>
            <a:fillRect/>
          </a:stretch>
        </p:blipFill>
        <p:spPr>
          <a:xfrm>
            <a:off x="2882136" y="2269353"/>
            <a:ext cx="2312411" cy="238296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2868481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23998-D1FE-E5F9-6FCF-449741FAF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756DA-A645-C9BA-BC49-0D129AA54E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57</a:t>
            </a:fld>
            <a:endParaRPr lang="en-US" sz="12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7ECB9B-CA7E-1ED8-05A9-84114DE5AA31}"/>
              </a:ext>
            </a:extLst>
          </p:cNvPr>
          <p:cNvSpPr txBox="1">
            <a:spLocks/>
          </p:cNvSpPr>
          <p:nvPr/>
        </p:nvSpPr>
        <p:spPr bwMode="auto">
          <a:xfrm>
            <a:off x="593676" y="129663"/>
            <a:ext cx="7742237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kern="0" dirty="0" err="1"/>
              <a:t>MaxDiffs</a:t>
            </a:r>
            <a:r>
              <a:rPr lang="en-US" sz="2800" kern="0" dirty="0"/>
              <a:t> by </a:t>
            </a:r>
            <a:r>
              <a:rPr lang="en-US" sz="2800" kern="0" dirty="0">
                <a:solidFill>
                  <a:srgbClr val="C00000"/>
                </a:solidFill>
              </a:rPr>
              <a:t>Weighted </a:t>
            </a:r>
            <a:r>
              <a:rPr lang="en-US" sz="2800" b="1" kern="0" dirty="0">
                <a:solidFill>
                  <a:srgbClr val="C00000"/>
                </a:solidFill>
              </a:rPr>
              <a:t>Anchor</a:t>
            </a:r>
            <a:r>
              <a:rPr lang="en-US" sz="2800" kern="0" dirty="0">
                <a:solidFill>
                  <a:srgbClr val="C00000"/>
                </a:solidFill>
              </a:rPr>
              <a:t> Scores</a:t>
            </a:r>
          </a:p>
          <a:p>
            <a:r>
              <a:rPr lang="en-US" kern="0" dirty="0"/>
              <a:t>(default when anchored)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C863C-0277-8023-170B-8D521229A2B8}"/>
              </a:ext>
            </a:extLst>
          </p:cNvPr>
          <p:cNvSpPr txBox="1"/>
          <p:nvPr/>
        </p:nvSpPr>
        <p:spPr>
          <a:xfrm>
            <a:off x="600022" y="948814"/>
            <a:ext cx="3864772" cy="1477328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Still not much going on to right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endParaRPr lang="en-US" sz="2000" dirty="0"/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Both at bottom look good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Anchors hard to beat on bottom 2; easy at top right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26C0A4-48B5-F9B6-FB43-A19BF4CB2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2880"/>
            <a:ext cx="7898221" cy="460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78032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E87CA-764E-6034-FF63-0646D9C4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4C8A-7295-5605-03D1-548188A2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“TURF” and MaxDiff, Weighted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5A195-D4BD-3B0E-5EDD-ADD371228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5" y="1032968"/>
            <a:ext cx="7994801" cy="320420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Option 2:  “Weighted Probability” as the value function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dirty="0"/>
              <a:t>The verdict:  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b="1" dirty="0">
                <a:solidFill>
                  <a:srgbClr val="0033CC"/>
                </a:solidFill>
              </a:rPr>
              <a:t>Weighted</a:t>
            </a:r>
            <a:r>
              <a:rPr lang="en-US" dirty="0"/>
              <a:t> </a:t>
            </a:r>
            <a:r>
              <a:rPr lang="en-US" b="1" dirty="0">
                <a:solidFill>
                  <a:srgbClr val="0033CC"/>
                </a:solidFill>
              </a:rPr>
              <a:t>Anchor</a:t>
            </a:r>
            <a:r>
              <a:rPr lang="en-US" dirty="0"/>
              <a:t> 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sometimes</a:t>
            </a:r>
            <a:r>
              <a:rPr lang="en-US" dirty="0"/>
              <a:t> added insight beyond item scores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The unanchored default </a:t>
            </a:r>
            <a:r>
              <a:rPr lang="en-US" b="1" dirty="0">
                <a:solidFill>
                  <a:srgbClr val="0033CC"/>
                </a:solidFill>
              </a:rPr>
              <a:t>Weighted Probability Score </a:t>
            </a:r>
            <a:r>
              <a:rPr lang="en-US" dirty="0"/>
              <a:t>did 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not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At least on these datasets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dirty="0"/>
              <a:t>WPS preserves MaxDiff granularity, but loses TURF “reach threshold”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This is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“TURF” on MaxDiff</a:t>
            </a:r>
            <a:r>
              <a:rPr lang="en-US" dirty="0"/>
              <a:t>, emphasis again on the quotes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CEA07-85D1-C70F-BEB4-351F23EF45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58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98272036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915" y="400050"/>
            <a:ext cx="7742237" cy="391257"/>
          </a:xfrm>
        </p:spPr>
        <p:txBody>
          <a:bodyPr/>
          <a:lstStyle/>
          <a:p>
            <a:r>
              <a:rPr lang="en-US" sz="2800" dirty="0"/>
              <a:t>TURF and MaxDiff, Opt. 3: </a:t>
            </a:r>
            <a:r>
              <a:rPr lang="en-US" sz="2800" b="1" dirty="0">
                <a:solidFill>
                  <a:srgbClr val="C00000"/>
                </a:solidFill>
              </a:rPr>
              <a:t>Post</a:t>
            </a:r>
            <a:r>
              <a:rPr lang="en-US" sz="2800" dirty="0"/>
              <a:t>-Thresholding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04088" y="1006597"/>
                <a:ext cx="7454755" cy="355957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Option. 3:  </a:t>
                </a:r>
                <a:r>
                  <a:rPr lang="en-US" sz="2400" b="1" u="sng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Post</a:t>
                </a:r>
                <a:r>
                  <a:rPr lang="en-US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-Threshold on weighted probability score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What do “real” TURF functions look like?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60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Restore the</a:t>
                </a:r>
                <a:r>
                  <a:rPr lang="en-US" b="1" dirty="0">
                    <a:solidFill>
                      <a:srgbClr val="0033CC"/>
                    </a:solidFill>
                  </a:rPr>
                  <a:t> </a:t>
                </a:r>
                <a:r>
                  <a:rPr lang="en-US" b="1" i="1" dirty="0">
                    <a:solidFill>
                      <a:srgbClr val="0033CC"/>
                    </a:solidFill>
                  </a:rPr>
                  <a:t>threshold</a:t>
                </a:r>
                <a:r>
                  <a:rPr lang="en-US" b="1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feature of TURF</a:t>
                </a:r>
              </a:p>
              <a:p>
                <a:pPr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33CC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dirty="0"/>
                  <a:t>, the threshold value, is arbitrary, like any TURF depth is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Or, set the </a:t>
                </a:r>
                <a:r>
                  <a:rPr lang="en-US" b="1" i="1" dirty="0">
                    <a:solidFill>
                      <a:srgbClr val="0033CC"/>
                    </a:solidFill>
                  </a:rPr>
                  <a:t>anchor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as the threshold for the total weighted score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For SVs, </a:t>
                </a:r>
                <a:r>
                  <a:rPr lang="en-US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no</a:t>
                </a:r>
                <a:r>
                  <a:rPr lang="en-US" dirty="0"/>
                  <a:t> short-cut computation; must enumerate or </a:t>
                </a:r>
                <a:r>
                  <a:rPr lang="en-US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use COAs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4088" y="1006597"/>
                <a:ext cx="7454755" cy="3559574"/>
              </a:xfrm>
              <a:blipFill>
                <a:blip r:embed="rId3"/>
                <a:stretch>
                  <a:fillRect l="-2128" t="-2226" r="-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59</a:t>
            </a:fld>
            <a:endParaRPr lang="en-US" sz="1200" dirty="0"/>
          </a:p>
        </p:txBody>
      </p:sp>
      <p:cxnSp>
        <p:nvCxnSpPr>
          <p:cNvPr id="32" name="Straight Connector 31"/>
          <p:cNvCxnSpPr/>
          <p:nvPr/>
        </p:nvCxnSpPr>
        <p:spPr bwMode="auto">
          <a:xfrm>
            <a:off x="6222425" y="2220707"/>
            <a:ext cx="1111170" cy="0"/>
          </a:xfrm>
          <a:prstGeom prst="line">
            <a:avLst/>
          </a:prstGeom>
          <a:solidFill>
            <a:schemeClr val="bg1"/>
          </a:solidFill>
          <a:ln w="3175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33"/>
          <p:cNvCxnSpPr/>
          <p:nvPr/>
        </p:nvCxnSpPr>
        <p:spPr bwMode="auto">
          <a:xfrm>
            <a:off x="7315200" y="1883664"/>
            <a:ext cx="752354" cy="0"/>
          </a:xfrm>
          <a:prstGeom prst="line">
            <a:avLst/>
          </a:prstGeom>
          <a:solidFill>
            <a:schemeClr val="bg1"/>
          </a:solidFill>
          <a:ln w="3175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/>
          <p:nvPr/>
        </p:nvCxnSpPr>
        <p:spPr bwMode="auto">
          <a:xfrm>
            <a:off x="7333595" y="1882153"/>
            <a:ext cx="0" cy="338554"/>
          </a:xfrm>
          <a:prstGeom prst="line">
            <a:avLst/>
          </a:prstGeom>
          <a:solidFill>
            <a:schemeClr val="bg1"/>
          </a:solidFill>
          <a:ln w="3175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B8C975F-BBCE-2D31-0F67-C0734E58E305}"/>
              </a:ext>
            </a:extLst>
          </p:cNvPr>
          <p:cNvSpPr txBox="1"/>
          <p:nvPr/>
        </p:nvSpPr>
        <p:spPr>
          <a:xfrm>
            <a:off x="5785677" y="1659394"/>
            <a:ext cx="1445342" cy="400110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b="1" dirty="0">
                <a:solidFill>
                  <a:srgbClr val="0033CC"/>
                </a:solidFill>
              </a:rPr>
              <a:t>Like this: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6205781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B89E8-DB90-7C91-2B04-BE32E16B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3799A-9F68-4F3B-9BA7-46EFB68F7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Choosing a </a:t>
            </a:r>
            <a:r>
              <a:rPr lang="en-US" sz="2800" b="1" dirty="0"/>
              <a:t>Post</a:t>
            </a:r>
            <a:r>
              <a:rPr lang="en-US" sz="2800" dirty="0"/>
              <a:t>-Threshold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7628E-565E-4E80-994B-59DBC2B06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5" y="1238324"/>
            <a:ext cx="7994801" cy="320420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For </a:t>
            </a:r>
            <a:r>
              <a:rPr lang="en-US" b="1" dirty="0">
                <a:solidFill>
                  <a:srgbClr val="0033CC"/>
                </a:solidFill>
              </a:rPr>
              <a:t>Multinomial Logit (MNL) Scores, </a:t>
            </a:r>
            <a:r>
              <a:rPr lang="en-US" dirty="0"/>
              <a:t>we will try </a:t>
            </a:r>
            <a:r>
              <a:rPr lang="en-US" b="1" dirty="0">
                <a:solidFill>
                  <a:srgbClr val="0033CC"/>
                </a:solidFill>
              </a:rPr>
              <a:t>0.5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Combination is more likely to be chosen than combo of 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all others</a:t>
            </a:r>
          </a:p>
          <a:p>
            <a:pPr marL="0" indent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dirty="0"/>
              <a:t>For standard</a:t>
            </a:r>
            <a:r>
              <a:rPr lang="en-US" b="1" dirty="0">
                <a:solidFill>
                  <a:srgbClr val="0033CC"/>
                </a:solidFill>
              </a:rPr>
              <a:t> Weighted Probability Score</a:t>
            </a:r>
            <a:r>
              <a:rPr lang="en-US" dirty="0"/>
              <a:t>, we will use </a:t>
            </a:r>
            <a:r>
              <a:rPr lang="en-US" b="1" dirty="0">
                <a:solidFill>
                  <a:srgbClr val="0033CC"/>
                </a:solidFill>
              </a:rPr>
              <a:t>0.9</a:t>
            </a:r>
            <a:r>
              <a:rPr lang="en-US" dirty="0"/>
              <a:t> </a:t>
            </a:r>
            <a:endParaRPr lang="en-US" b="1" i="1" dirty="0">
              <a:solidFill>
                <a:srgbClr val="0033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Implies high probability (90%) of winning against a few “</a:t>
            </a:r>
            <a:r>
              <a:rPr lang="en-US" sz="1800" b="1" dirty="0">
                <a:solidFill>
                  <a:srgbClr val="009900"/>
                </a:solidFill>
              </a:rPr>
              <a:t>average items</a:t>
            </a:r>
            <a:r>
              <a:rPr lang="en-US" dirty="0"/>
              <a:t>”</a:t>
            </a:r>
          </a:p>
          <a:p>
            <a:pPr marL="0" indent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dirty="0"/>
              <a:t>For </a:t>
            </a:r>
            <a:r>
              <a:rPr lang="en-US" b="1" dirty="0">
                <a:solidFill>
                  <a:srgbClr val="0033CC"/>
                </a:solidFill>
              </a:rPr>
              <a:t>Anchored</a:t>
            </a:r>
            <a:r>
              <a:rPr lang="en-US" dirty="0"/>
              <a:t> </a:t>
            </a:r>
            <a:r>
              <a:rPr lang="en-US" b="1" dirty="0">
                <a:solidFill>
                  <a:srgbClr val="0033CC"/>
                </a:solidFill>
              </a:rPr>
              <a:t>Weighted Probability Score,</a:t>
            </a:r>
            <a:r>
              <a:rPr lang="en-US" dirty="0"/>
              <a:t> we will use </a:t>
            </a:r>
            <a:r>
              <a:rPr lang="en-US" b="1" dirty="0">
                <a:solidFill>
                  <a:srgbClr val="0033CC"/>
                </a:solidFill>
              </a:rPr>
              <a:t>0.5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Implies the combination will “beat” the </a:t>
            </a:r>
            <a:r>
              <a:rPr lang="en-US" sz="1800" b="1" dirty="0">
                <a:solidFill>
                  <a:srgbClr val="009900"/>
                </a:solidFill>
              </a:rPr>
              <a:t>anchor</a:t>
            </a:r>
          </a:p>
          <a:p>
            <a:pPr marL="0" indent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b="1" dirty="0"/>
              <a:t>All </a:t>
            </a:r>
            <a:r>
              <a:rPr lang="en-US" dirty="0"/>
              <a:t>are ultimately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arbitrary </a:t>
            </a:r>
            <a:r>
              <a:rPr lang="en-US" dirty="0"/>
              <a:t>choices; not claimed to be best choices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8FC9B-7C91-6EA2-7DC7-367C85F0FB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60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69500248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3AB76-BDD6-81A1-6550-F750DC536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31C882E-C5E3-BC8E-5221-46D5EFA43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57200"/>
            <a:ext cx="7459431" cy="43504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DED0-0C93-FCE9-598E-4F72306433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61</a:t>
            </a:fld>
            <a:endParaRPr lang="en-US" sz="12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E33AB5-EAAE-6B32-C99B-349B8A971708}"/>
              </a:ext>
            </a:extLst>
          </p:cNvPr>
          <p:cNvSpPr txBox="1">
            <a:spLocks/>
          </p:cNvSpPr>
          <p:nvPr/>
        </p:nvSpPr>
        <p:spPr bwMode="auto">
          <a:xfrm>
            <a:off x="593676" y="129663"/>
            <a:ext cx="7742237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kern="0" dirty="0" err="1"/>
              <a:t>MaxDiffs</a:t>
            </a:r>
            <a:r>
              <a:rPr lang="en-US" sz="2800" kern="0" dirty="0"/>
              <a:t> by </a:t>
            </a:r>
            <a:r>
              <a:rPr lang="en-US" sz="2800" b="1" kern="0" dirty="0">
                <a:solidFill>
                  <a:srgbClr val="C00000"/>
                </a:solidFill>
              </a:rPr>
              <a:t>Post</a:t>
            </a:r>
            <a:r>
              <a:rPr lang="en-US" sz="2800" kern="0" dirty="0"/>
              <a:t>-Thresholded </a:t>
            </a:r>
            <a:r>
              <a:rPr lang="en-US" sz="2800" b="1" kern="0" dirty="0">
                <a:solidFill>
                  <a:srgbClr val="C00000"/>
                </a:solidFill>
              </a:rPr>
              <a:t>MNL&gt;0.5</a:t>
            </a:r>
            <a:r>
              <a:rPr lang="en-US" sz="2800" kern="0" dirty="0"/>
              <a:t> Scores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0FE53-38B1-1DD5-7708-2DAEF0E313FF}"/>
              </a:ext>
            </a:extLst>
          </p:cNvPr>
          <p:cNvSpPr txBox="1"/>
          <p:nvPr/>
        </p:nvSpPr>
        <p:spPr>
          <a:xfrm>
            <a:off x="304800" y="698159"/>
            <a:ext cx="1158240" cy="3539430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Minimal signs of life here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Is &gt;0.5 the right cutoff?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dirty="0"/>
              <a:t>(Implies </a:t>
            </a:r>
            <a:r>
              <a:rPr lang="en-US" sz="1600" dirty="0" err="1"/>
              <a:t>combin-ation</a:t>
            </a:r>
            <a:r>
              <a:rPr lang="en-US" sz="1600" dirty="0"/>
              <a:t> beats all left out)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327164606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DF464-DA4A-8C24-6309-F6D7C1B91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B9CC0-637F-DE8D-D0A0-7DF8803B18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62</a:t>
            </a:fld>
            <a:endParaRPr lang="en-US" sz="12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5BBF08F-091F-AB13-2E9C-6904BAA7FB1E}"/>
              </a:ext>
            </a:extLst>
          </p:cNvPr>
          <p:cNvSpPr txBox="1">
            <a:spLocks/>
          </p:cNvSpPr>
          <p:nvPr/>
        </p:nvSpPr>
        <p:spPr bwMode="auto">
          <a:xfrm>
            <a:off x="593676" y="129663"/>
            <a:ext cx="7742237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kern="0" dirty="0" err="1"/>
              <a:t>MaxDiffs</a:t>
            </a:r>
            <a:r>
              <a:rPr lang="en-US" sz="2800" kern="0" dirty="0"/>
              <a:t> by </a:t>
            </a:r>
            <a:r>
              <a:rPr lang="en-US" sz="2800" b="1" kern="0" dirty="0">
                <a:solidFill>
                  <a:srgbClr val="C00000"/>
                </a:solidFill>
              </a:rPr>
              <a:t>Post</a:t>
            </a:r>
            <a:r>
              <a:rPr lang="en-US" sz="2800" kern="0" dirty="0"/>
              <a:t>-Thresholded</a:t>
            </a:r>
          </a:p>
          <a:p>
            <a:r>
              <a:rPr lang="en-US" sz="2800" b="1" kern="0" dirty="0">
                <a:solidFill>
                  <a:srgbClr val="C00000"/>
                </a:solidFill>
              </a:rPr>
              <a:t>Weighted Probability </a:t>
            </a:r>
            <a:r>
              <a:rPr lang="en-US" sz="2800" kern="0" dirty="0"/>
              <a:t>Scores </a:t>
            </a:r>
            <a:r>
              <a:rPr lang="en-US" sz="2800" b="1" kern="0" dirty="0">
                <a:solidFill>
                  <a:srgbClr val="C00000"/>
                </a:solidFill>
              </a:rPr>
              <a:t>&gt;0.9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091774-8894-8F15-3FBA-A335E79EB70C}"/>
              </a:ext>
            </a:extLst>
          </p:cNvPr>
          <p:cNvSpPr txBox="1"/>
          <p:nvPr/>
        </p:nvSpPr>
        <p:spPr>
          <a:xfrm>
            <a:off x="593676" y="1391240"/>
            <a:ext cx="4301611" cy="126188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Not bad overall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/>
              <a:t>Way more interesting than the MNL version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3C590D-6E74-2D91-9C2C-86C6AFE72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65760"/>
            <a:ext cx="7678826" cy="447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34211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41C29-FF7A-BF9D-C556-06E63476B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6EAD304-DD71-F0B2-BA3F-F7D75417E0B6}"/>
              </a:ext>
            </a:extLst>
          </p:cNvPr>
          <p:cNvSpPr txBox="1"/>
          <p:nvPr/>
        </p:nvSpPr>
        <p:spPr>
          <a:xfrm>
            <a:off x="593676" y="1084904"/>
            <a:ext cx="4075470" cy="1415772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Lots of interesting things here with hard-to-beat anchors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/>
              <a:t>Not so much with the Anchored-90 study (top right) (an easy anchor)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FE393-5FDE-8DAE-176A-B5BFBA10D3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63</a:t>
            </a:fld>
            <a:endParaRPr lang="en-US" sz="12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20ECA4E-5F0E-58AB-CAC8-8657BEAD96F5}"/>
              </a:ext>
            </a:extLst>
          </p:cNvPr>
          <p:cNvSpPr txBox="1">
            <a:spLocks/>
          </p:cNvSpPr>
          <p:nvPr/>
        </p:nvSpPr>
        <p:spPr bwMode="auto">
          <a:xfrm>
            <a:off x="593676" y="129663"/>
            <a:ext cx="7742237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kern="0" dirty="0" err="1"/>
              <a:t>MaxDiffs</a:t>
            </a:r>
            <a:r>
              <a:rPr lang="en-US" sz="2800" kern="0" dirty="0"/>
              <a:t> by </a:t>
            </a:r>
            <a:r>
              <a:rPr lang="en-US" sz="2800" b="1" kern="0" dirty="0">
                <a:solidFill>
                  <a:srgbClr val="C00000"/>
                </a:solidFill>
              </a:rPr>
              <a:t>Post</a:t>
            </a:r>
            <a:r>
              <a:rPr lang="en-US" sz="2800" kern="0" dirty="0"/>
              <a:t>-Thresholded </a:t>
            </a:r>
          </a:p>
          <a:p>
            <a:r>
              <a:rPr lang="en-US" sz="2800" b="1" kern="0" dirty="0">
                <a:solidFill>
                  <a:srgbClr val="C00000"/>
                </a:solidFill>
              </a:rPr>
              <a:t>Anchor Weighted Prob.  </a:t>
            </a:r>
            <a:r>
              <a:rPr lang="en-US" sz="2800" kern="0" dirty="0"/>
              <a:t>Scores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F18AEA-AED7-EA0D-3380-3E4178CC2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2880"/>
            <a:ext cx="7898221" cy="460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267200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D4D64-6AAE-3E67-6859-D74F5E33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15C3B-C8A9-2460-492A-5817C959D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4" y="989958"/>
            <a:ext cx="7742237" cy="3163583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/>
              <a:t>TURF is frequently done on MaxDiff data.  Three main options: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Option 1: 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Pre-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thresholding </a:t>
            </a:r>
            <a:r>
              <a:rPr lang="en-US" dirty="0"/>
              <a:t>to make item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0/1</a:t>
            </a:r>
          </a:p>
          <a:p>
            <a:pPr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</a:pPr>
            <a:r>
              <a:rPr lang="en-US" sz="1800" dirty="0"/>
              <a:t>Arbitrary cutoff</a:t>
            </a:r>
            <a:endParaRPr lang="en-US" sz="1800" strike="dblStrike" dirty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Option 2:  Scores and total scores—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”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weighted probability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” </a:t>
            </a:r>
            <a:r>
              <a:rPr lang="en-US" dirty="0"/>
              <a:t>scores/methods</a:t>
            </a:r>
          </a:p>
          <a:p>
            <a:pPr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</a:pPr>
            <a:r>
              <a:rPr lang="en-US" sz="1800" strike="sngStrike" dirty="0">
                <a:solidFill>
                  <a:schemeClr val="bg1">
                    <a:lumMod val="50000"/>
                  </a:schemeClr>
                </a:solidFill>
              </a:rPr>
              <a:t>Sawtooth default (score vs. </a:t>
            </a:r>
            <a:r>
              <a:rPr lang="en-US" sz="1800" b="1" i="1" strike="sngStrike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US" sz="1800" strike="sngStrike" dirty="0">
                <a:solidFill>
                  <a:schemeClr val="bg1">
                    <a:lumMod val="50000"/>
                  </a:schemeClr>
                </a:solidFill>
              </a:rPr>
              <a:t> average items)</a:t>
            </a:r>
          </a:p>
          <a:p>
            <a:pPr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</a:pPr>
            <a:r>
              <a:rPr lang="en-US" sz="1800" dirty="0"/>
              <a:t>Anchor scoring (probability of beating anchor)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Option 3: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-thresholding</a:t>
            </a:r>
            <a:r>
              <a:rPr lang="en-US" dirty="0"/>
              <a:t>—minimum imposed on total scores</a:t>
            </a:r>
          </a:p>
          <a:p>
            <a:pPr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</a:pPr>
            <a:r>
              <a:rPr lang="en-US" sz="1800" strike="sngStrike" dirty="0">
                <a:solidFill>
                  <a:schemeClr val="bg1">
                    <a:lumMod val="50000"/>
                  </a:schemeClr>
                </a:solidFill>
              </a:rPr>
              <a:t>MNL, arbitrary cutoff (say 0.5)</a:t>
            </a:r>
          </a:p>
          <a:p>
            <a:pPr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Sawtooth default, arbitrary cutoff (say 90%) </a:t>
            </a:r>
          </a:p>
          <a:p>
            <a:pPr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Anchored, arbitrary (say &gt;50% beats anchor)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49DE5-3BA0-E9A5-E356-999E70E6C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TURF and MaxDiff—Where Did </a:t>
            </a:r>
            <a:r>
              <a:rPr lang="en-US" sz="2800" b="1" dirty="0"/>
              <a:t>SVs</a:t>
            </a:r>
            <a:r>
              <a:rPr lang="en-US" sz="2800" dirty="0"/>
              <a:t> Help?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AC762-45EA-119C-BED4-AF8B22919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64</a:t>
            </a:fld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41AD0-CCA2-F0B4-274A-33F5F8CFF810}"/>
              </a:ext>
            </a:extLst>
          </p:cNvPr>
          <p:cNvSpPr txBox="1"/>
          <p:nvPr/>
        </p:nvSpPr>
        <p:spPr>
          <a:xfrm>
            <a:off x="5916386" y="1393001"/>
            <a:ext cx="3108960" cy="5486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dirty="0">
                <a:solidFill>
                  <a:srgbClr val="C00000"/>
                </a:solidFill>
              </a:rPr>
              <a:t>TURF, but not much like MaxDiff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TURF on 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MaxDiff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25DBA-A89C-0664-87FF-A2E90E54CE7F}"/>
              </a:ext>
            </a:extLst>
          </p:cNvPr>
          <p:cNvSpPr txBox="1"/>
          <p:nvPr/>
        </p:nvSpPr>
        <p:spPr>
          <a:xfrm>
            <a:off x="5916386" y="2638122"/>
            <a:ext cx="3108960" cy="5486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dirty="0">
                <a:solidFill>
                  <a:srgbClr val="C00000"/>
                </a:solidFill>
                <a:highlight>
                  <a:srgbClr val="FFFF00"/>
                </a:highlight>
              </a:rPr>
              <a:t>MaxDiff, but not much like TURF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FFFF00"/>
                </a:highlight>
              </a:rPr>
              <a:t>”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TURF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FFFF00"/>
                </a:highlight>
              </a:rPr>
              <a:t>”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on MaxDiff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1070F-510A-D967-7DFD-FEB19D7BEE6D}"/>
              </a:ext>
            </a:extLst>
          </p:cNvPr>
          <p:cNvSpPr txBox="1"/>
          <p:nvPr/>
        </p:nvSpPr>
        <p:spPr>
          <a:xfrm>
            <a:off x="6373586" y="3792350"/>
            <a:ext cx="2651760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>
                <a:solidFill>
                  <a:srgbClr val="009900"/>
                </a:solidFill>
                <a:highlight>
                  <a:srgbClr val="FFFF00"/>
                </a:highlight>
              </a:rPr>
              <a:t>Key parts of both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b="1" dirty="0">
                <a:solidFill>
                  <a:srgbClr val="009900"/>
                </a:solidFill>
                <a:highlight>
                  <a:srgbClr val="FFFF00"/>
                </a:highlight>
              </a:rPr>
              <a:t>TURF on MaxDiff</a:t>
            </a:r>
            <a:endParaRPr lang="en-US" sz="1800" dirty="0">
              <a:solidFill>
                <a:srgbClr val="009900"/>
              </a:solidFill>
              <a:highlight>
                <a:srgbClr val="FFFF00"/>
              </a:highlight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CA24B52-6A3E-EBEA-E4D9-DBB91DE3C597}"/>
              </a:ext>
            </a:extLst>
          </p:cNvPr>
          <p:cNvSpPr txBox="1">
            <a:spLocks/>
          </p:cNvSpPr>
          <p:nvPr/>
        </p:nvSpPr>
        <p:spPr bwMode="auto">
          <a:xfrm>
            <a:off x="3317626" y="1670759"/>
            <a:ext cx="3213804" cy="27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+mn-cs"/>
              </a:defRPr>
            </a:lvl2pPr>
            <a:lvl3pPr marL="98583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Lucida Grande"/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3pPr>
            <a:lvl4pPr marL="1433513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Lucida Grande"/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4pPr>
            <a:lvl5pPr marL="17922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Lucida Grande"/>
              <a:buChar char="»"/>
              <a:defRPr sz="1200">
                <a:solidFill>
                  <a:schemeClr val="tx1"/>
                </a:solidFill>
                <a:latin typeface="+mn-lt"/>
                <a:cs typeface="+mn-cs"/>
              </a:defRPr>
            </a:lvl5pPr>
            <a:lvl6pPr marL="22494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6pPr>
            <a:lvl7pPr marL="27066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31638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3621088" indent="-179388" algn="l" rtl="0" eaLnBrk="1" fontAlgn="base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Arial Unicode MS" pitchFamily="34" charset="-128"/>
              <a:buChar char="-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</a:pPr>
            <a:r>
              <a:rPr lang="en-US" sz="1800" dirty="0"/>
              <a:t>Anchor as the cutoff</a:t>
            </a:r>
          </a:p>
          <a:p>
            <a:pPr marL="0" indent="0">
              <a:spcBef>
                <a:spcPts val="1200"/>
              </a:spcBef>
              <a:spcAft>
                <a:spcPts val="0"/>
              </a:spcAft>
              <a:buFont typeface="Arial"/>
              <a:buNone/>
            </a:pPr>
            <a:endParaRPr lang="en-US" sz="1800" kern="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194828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68A460-CCC4-56E1-ACEC-718E7615A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4E6A8-F9DB-121B-005B-B53824C7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TURF and MaxDiff—Where Do </a:t>
            </a:r>
            <a:r>
              <a:rPr lang="en-US" sz="2800" b="1" dirty="0"/>
              <a:t>SVs</a:t>
            </a:r>
            <a:r>
              <a:rPr lang="en-US" sz="2800" dirty="0"/>
              <a:t> Help?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2E56A-8D31-6E99-06C9-A30D7460E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Recall Shapley Values as a lens into what’s going 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they don’t help, it’s because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nothing much is going on …</a:t>
            </a:r>
          </a:p>
          <a:p>
            <a:pPr marL="642938" lvl="2" indent="0">
              <a:buNone/>
            </a:pPr>
            <a:r>
              <a:rPr lang="en-US" sz="2000" dirty="0"/>
              <a:t>… beyond the simple univariate/solo item scores/contributions</a:t>
            </a:r>
          </a:p>
          <a:p>
            <a:pPr marL="642938" lvl="2" indent="0"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It’s the underlying analysis</a:t>
            </a:r>
            <a:r>
              <a:rPr lang="en-US" dirty="0"/>
              <a:t>, not the SVs, that isn’t adding anything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STILL, the business problem should drive the underlying analysis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Not the degree of technical interest in the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59E13-6D36-954D-B29A-623E6B032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65</a:t>
            </a:fld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35237-5002-0CD3-11B4-E8E0BBC136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90474">
            <a:off x="4916416" y="-409234"/>
            <a:ext cx="5266944" cy="351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008487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4BFAB-29B6-AA05-EAAE-E7CF64064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3819C-D111-6E38-D154-BAFFA70A1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66</a:t>
            </a:fld>
            <a:endParaRPr lang="en-US" sz="1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AD1BB21-95E0-E5AA-E761-763167097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915" y="1187055"/>
            <a:ext cx="7742237" cy="3163490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sz="48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rgbClr val="002060"/>
                </a:solidFill>
              </a:rPr>
              <a:t>Wrapping Up</a:t>
            </a:r>
          </a:p>
        </p:txBody>
      </p:sp>
    </p:spTree>
    <p:extLst>
      <p:ext uri="{BB962C8B-B14F-4D97-AF65-F5344CB8AC3E}">
        <p14:creationId xmlns:p14="http://schemas.microsoft.com/office/powerpoint/2010/main" val="2413509672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EBDC1-0F79-7381-2105-F4E7BEA56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D94D8-5B03-2A58-DB2D-D7692C73C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Many Ways to Use Shapley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2AA5E-E0EC-03AF-7C70-D542C3336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5" y="1191877"/>
            <a:ext cx="7742237" cy="3163583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/>
              <a:t>“Contribution” attribution within a chosen subset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Importance/simplification of a large set of items is obvious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Prune/pre-select items for exhaustive searches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Any time a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simple</a:t>
            </a:r>
            <a:r>
              <a:rPr lang="en-US" dirty="0"/>
              <a:t> and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“fair” </a:t>
            </a:r>
            <a:r>
              <a:rPr lang="en-US" dirty="0"/>
              <a:t>summary of items/variables is needed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Simple to present and explain; not unstable over time/subgroups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Fairly simple to compute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Fair both in one strict mathematical sense, and also intuitively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6B7A6-53C1-66FB-E765-9539A5C0E7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67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81628108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EFDC4-051D-A5D3-22E7-D1669808D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8067C-7C0F-7ABA-ED64-DB48EFF3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Many Ways to Value Combinations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AE3B6-CDA4-9688-2402-3F5C5BD46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5" y="1191877"/>
            <a:ext cx="8002948" cy="3131929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/>
              <a:t>Key Drivers, for importance of all, or contributions within a subset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Adjusted</a:t>
            </a:r>
            <a:r>
              <a:rPr lang="en-US" dirty="0"/>
              <a:t> 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r </a:t>
            </a:r>
            <a:r>
              <a:rPr lang="en-US" sz="2400" b="1" i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dirty="0"/>
              <a:t> as well as straight 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r </a:t>
            </a:r>
            <a:r>
              <a:rPr lang="en-US" sz="2400" b="1" i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US" dirty="0"/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Logistic</a:t>
            </a:r>
            <a:r>
              <a:rPr lang="en-US" dirty="0"/>
              <a:t> regression as well (LL improvement instead of 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r </a:t>
            </a:r>
            <a:r>
              <a:rPr lang="en-US" sz="2400" b="1" i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dirty="0"/>
              <a:t>)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Discriminants, MNLs, Trees </a:t>
            </a:r>
            <a:r>
              <a:rPr lang="en-US" dirty="0"/>
              <a:t>and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Random Forests </a:t>
            </a:r>
            <a:r>
              <a:rPr lang="en-US" dirty="0"/>
              <a:t>(RLH or hits)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TURF, in many variants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dirty="0"/>
              <a:t>On MaxDiff, in ways discussed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dirty="0"/>
              <a:t>Multiple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depths</a:t>
            </a:r>
            <a:r>
              <a:rPr lang="en-US" dirty="0"/>
              <a:t> of “reach”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dirty="0"/>
              <a:t>With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alternatives</a:t>
            </a:r>
            <a:r>
              <a:rPr lang="en-US" dirty="0"/>
              <a:t> other than “reach” </a:t>
            </a:r>
            <a:r>
              <a:rPr lang="en-US" sz="1600" dirty="0"/>
              <a:t>(Lyon 2018, Conklin &amp; Lipovetsky 2013)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ANY</a:t>
            </a:r>
            <a:r>
              <a:rPr lang="en-US" dirty="0"/>
              <a:t> problem of valuing combinations/bundles of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ANY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thing(s)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0F1E9-DC0B-5396-FA92-6F1FC2CCD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68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45689737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41F91BE-FD1D-8F02-219F-CD0890A04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1DEC5-9152-F0BE-3587-73E570763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Exact &amp; Fast SVs with TURF Variants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4A49B-39AB-FDD2-F154-AEEB02085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4" y="1132884"/>
            <a:ext cx="7742237" cy="31635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“Hypergeometric trick” can be extended to many variations: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Reach</a:t>
            </a:r>
            <a:r>
              <a:rPr lang="en-US" sz="1800" dirty="0"/>
              <a:t> -- as in standard TURF, but any depth </a:t>
            </a:r>
            <a:r>
              <a:rPr lang="en-US" sz="1800" b="1" i="1" dirty="0"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Coverage</a:t>
            </a:r>
            <a:r>
              <a:rPr lang="en-US" sz="1800" dirty="0"/>
              <a:t> – Must include all “hits”, or miss at most </a:t>
            </a:r>
            <a:r>
              <a:rPr lang="en-US" sz="1800" b="1" i="1" dirty="0"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en-US" sz="1800" dirty="0"/>
              <a:t> of them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Majority</a:t>
            </a:r>
            <a:r>
              <a:rPr lang="en-US" sz="1800" dirty="0"/>
              <a:t> – Combos must include more “hits” than “misses”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Non-excess</a:t>
            </a:r>
            <a:r>
              <a:rPr lang="en-US" sz="1800" dirty="0"/>
              <a:t> – Combos must include only “hits”, or at most </a:t>
            </a:r>
            <a:r>
              <a:rPr lang="en-US" sz="1800" b="1" i="1" dirty="0"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en-US" sz="1800" dirty="0"/>
              <a:t> “misses”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Partial Credit </a:t>
            </a:r>
            <a:r>
              <a:rPr lang="en-US" sz="1800" dirty="0"/>
              <a:t>– Each hit counts 1/3 (say) up to maximum of 1 total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Size-Limited Combinations </a:t>
            </a:r>
            <a:r>
              <a:rPr lang="en-US" sz="1800" dirty="0"/>
              <a:t>– as mentioned earlier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All still </a:t>
            </a:r>
            <a:r>
              <a:rPr lang="en-US" dirty="0">
                <a:solidFill>
                  <a:srgbClr val="0033CC"/>
                </a:solidFill>
              </a:rPr>
              <a:t>fast, exact and scalable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See Lyon (2018, Sawtooth Proceedings) for details and more suggestions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4247A-9BE2-AE00-27BD-B7EC89DF6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69</a:t>
            </a:fld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ACC8A0-D1A7-FCC5-1027-D853274C5220}"/>
              </a:ext>
            </a:extLst>
          </p:cNvPr>
          <p:cNvSpPr txBox="1">
            <a:spLocks/>
          </p:cNvSpPr>
          <p:nvPr/>
        </p:nvSpPr>
        <p:spPr>
          <a:xfrm>
            <a:off x="8961120" y="0"/>
            <a:ext cx="182880" cy="182880"/>
          </a:xfrm>
          <a:prstGeom prst="rect">
            <a:avLst/>
          </a:prstGeom>
          <a:solidFill>
            <a:srgbClr val="00FF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53352328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8ED3E-C310-34BE-233F-554CEEB6E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8573E-9155-73CC-AFE8-EC2C1635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Software &amp; Design Catalog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DA545-FE63-ED74-9978-B4F442BAF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5" y="1196793"/>
            <a:ext cx="7742237" cy="316358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b="1" dirty="0">
                <a:solidFill>
                  <a:srgbClr val="0033CC"/>
                </a:solidFill>
              </a:rPr>
              <a:t>R</a:t>
            </a:r>
            <a:r>
              <a:rPr lang="en-US" dirty="0">
                <a:solidFill>
                  <a:srgbClr val="0033CC"/>
                </a:solidFill>
              </a:rPr>
              <a:t> package </a:t>
            </a:r>
            <a:r>
              <a:rPr lang="en-US" dirty="0" err="1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ShapCOA</a:t>
            </a:r>
            <a:r>
              <a:rPr lang="en-US" dirty="0">
                <a:solidFill>
                  <a:srgbClr val="0033CC"/>
                </a:solidFill>
              </a:rPr>
              <a:t> </a:t>
            </a:r>
            <a:r>
              <a:rPr lang="en-US" dirty="0"/>
              <a:t>to handle all SV and TURF issues discussed: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Free and publicly available at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github.com/DWLyon17/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ShapCOA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b="1" dirty="0"/>
              <a:t>Many details in Appendix slides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solidFill>
                  <a:srgbClr val="0033CC"/>
                </a:solidFill>
              </a:rPr>
              <a:t>A catalog of COA designs </a:t>
            </a:r>
            <a:r>
              <a:rPr lang="en-US" dirty="0"/>
              <a:t>for all numbers of items from 4 to 227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As CSV files, usable anywhere, not dependent on R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One COA per number of items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Free and publicly available at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github.com/DWLyon17/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COAdesigns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lvl="1" indent="0">
              <a:spcBef>
                <a:spcPts val="1200"/>
              </a:spcBef>
              <a:buNone/>
            </a:pPr>
            <a:r>
              <a:rPr lang="en-US" sz="2000" dirty="0">
                <a:solidFill>
                  <a:srgbClr val="0033CC"/>
                </a:solidFill>
                <a:ea typeface="+mn-ea"/>
              </a:rPr>
              <a:t>Sawtooth Software </a:t>
            </a:r>
            <a:r>
              <a:rPr lang="en-US" sz="2000" dirty="0">
                <a:ea typeface="+mn-ea"/>
              </a:rPr>
              <a:t>is implementing COAs and other new features for their </a:t>
            </a:r>
            <a:r>
              <a:rPr lang="en-US" sz="2000" dirty="0">
                <a:solidFill>
                  <a:srgbClr val="0033CC"/>
                </a:solidFill>
                <a:ea typeface="+mn-ea"/>
              </a:rPr>
              <a:t>TURF on MaxDiff </a:t>
            </a:r>
            <a:r>
              <a:rPr lang="en-US" sz="2000" dirty="0">
                <a:ea typeface="+mn-ea"/>
              </a:rPr>
              <a:t>capabilities</a:t>
            </a:r>
            <a:endParaRPr lang="en-US" dirty="0"/>
          </a:p>
          <a:p>
            <a:pPr marL="0" indent="0">
              <a:spcBef>
                <a:spcPts val="120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69745-C230-BD51-7DAD-D92F537DE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70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52382423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B2E88-390F-C075-AD44-ADAAFAFAA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F735E-3C4F-021D-1322-707690CA4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Take-Aways:  </a:t>
            </a:r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Shapley Values</a:t>
            </a:r>
            <a:endParaRPr lang="en-US" sz="28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5EF10-0E2E-E3DC-CCB5-190C8A28D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999" y="1065124"/>
            <a:ext cx="7742237" cy="3163583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Intuitive </a:t>
            </a:r>
            <a:r>
              <a:rPr lang="en-US" dirty="0"/>
              <a:t>– all orderings, average contribution, “fairness”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Useful</a:t>
            </a:r>
            <a:r>
              <a:rPr lang="en-US" dirty="0"/>
              <a:t> – compact and insightful; more stable in comparisons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Easy </a:t>
            </a:r>
            <a:r>
              <a:rPr lang="en-US" dirty="0"/>
              <a:t>– At least in small problems and most 0/1 TURF-like situations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b="1" dirty="0">
                <a:solidFill>
                  <a:srgbClr val="0033CC"/>
                </a:solidFill>
              </a:rPr>
              <a:t>COAs make even large problems feasible, with high accuracy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Evaluate SVs vs. univariate scores to </a:t>
            </a:r>
            <a:r>
              <a:rPr lang="en-US" dirty="0">
                <a:solidFill>
                  <a:srgbClr val="0033CC"/>
                </a:solidFill>
              </a:rPr>
              <a:t>see if value really added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800" dirty="0"/>
              <a:t>For MaxDiff, consider post-thresholding approaches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dirty="0"/>
              <a:t>Consider using </a:t>
            </a:r>
            <a:r>
              <a:rPr lang="en-US" dirty="0">
                <a:solidFill>
                  <a:srgbClr val="0033CC"/>
                </a:solidFill>
              </a:rPr>
              <a:t>size-limited “SVs”</a:t>
            </a:r>
            <a:r>
              <a:rPr lang="en-US" dirty="0"/>
              <a:t> on smaller combinations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dirty="0">
                <a:solidFill>
                  <a:srgbClr val="0033CC"/>
                </a:solidFill>
              </a:rPr>
              <a:t>Be inventive </a:t>
            </a:r>
            <a:r>
              <a:rPr lang="en-US" dirty="0"/>
              <a:t>in ways to value combinations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7B324-A587-71DB-E354-8E504A3AD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71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18219450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0D9C0-BA9D-3E31-F157-94846C93A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1D4FE-1C98-694C-87BF-062EE1F21E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72</a:t>
            </a:fld>
            <a:endParaRPr lang="en-US" sz="1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B059C3-ED88-5230-84C0-9536152CF2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915" y="1187055"/>
            <a:ext cx="7742237" cy="3163490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sz="48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rgbClr val="002060"/>
                </a:solidFill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3247451747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EA8D8-DF69-D937-20C9-75228ED05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B156F-6DA0-8B78-93BF-A3E8F6C1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6051F-0D26-73DA-BCC2-2A50FCA6D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881" y="1132526"/>
            <a:ext cx="7742237" cy="3163583"/>
          </a:xfrm>
        </p:spPr>
        <p:txBody>
          <a:bodyPr/>
          <a:lstStyle/>
          <a:p>
            <a:pPr marL="0" marR="0">
              <a:spcBef>
                <a:spcPts val="600"/>
              </a:spcBef>
              <a:buNone/>
            </a:pPr>
            <a:r>
              <a:rPr lang="en-US" sz="1200" dirty="0">
                <a:effectLst/>
                <a:ea typeface="Calibri" panose="020F0502020204030204" pitchFamily="34" charset="0"/>
              </a:rPr>
              <a:t>Conklin, Michael and Stan Lipovetsky (2013), “The Shapley Value in Marketing Research: 15 Years and Counting,” 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Proceedings of the 2013 Sawtooth Software Conference.</a:t>
            </a:r>
            <a:endParaRPr lang="en-US" sz="1200" dirty="0">
              <a:effectLst/>
              <a:ea typeface="Calibri" panose="020F0502020204030204" pitchFamily="34" charset="0"/>
            </a:endParaRPr>
          </a:p>
          <a:p>
            <a:pPr marL="0" marR="0">
              <a:spcBef>
                <a:spcPts val="600"/>
              </a:spcBef>
              <a:buNone/>
            </a:pPr>
            <a:r>
              <a:rPr lang="en-US" sz="1200" dirty="0">
                <a:effectLst/>
                <a:ea typeface="Calibri" panose="020F0502020204030204" pitchFamily="34" charset="0"/>
              </a:rPr>
              <a:t>Johnson, Jeff and James Lebreton (2004), “History and use of relative importance indices in organizational research,” 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Organizational Research Methods, </a:t>
            </a:r>
            <a:r>
              <a:rPr lang="en-US" sz="1200" dirty="0">
                <a:effectLst/>
                <a:ea typeface="Calibri" panose="020F0502020204030204" pitchFamily="34" charset="0"/>
              </a:rPr>
              <a:t>volume 7, issue 3 (July 2004), pp. 238-257.</a:t>
            </a:r>
          </a:p>
          <a:p>
            <a:pPr marL="0" marR="0">
              <a:spcBef>
                <a:spcPts val="600"/>
              </a:spcBef>
              <a:buNone/>
            </a:pPr>
            <a:r>
              <a:rPr lang="en-US" sz="1200" dirty="0">
                <a:effectLst/>
                <a:ea typeface="Calibri" panose="020F0502020204030204" pitchFamily="34" charset="0"/>
              </a:rPr>
              <a:t>Kruskal, William (1987), “Relative Importance by Averaging over Orderings,” </a:t>
            </a:r>
            <a:r>
              <a:rPr lang="en-US" sz="1200" i="1" dirty="0">
                <a:ea typeface="Calibri" panose="020F0502020204030204" pitchFamily="34" charset="0"/>
              </a:rPr>
              <a:t>T</a:t>
            </a:r>
            <a:r>
              <a:rPr lang="en-US" sz="1200" i="1" dirty="0">
                <a:effectLst/>
                <a:ea typeface="Calibri" panose="020F0502020204030204" pitchFamily="34" charset="0"/>
              </a:rPr>
              <a:t>he American Statistician</a:t>
            </a:r>
            <a:r>
              <a:rPr lang="en-US" sz="1200" dirty="0">
                <a:effectLst/>
                <a:ea typeface="Calibri" panose="020F0502020204030204" pitchFamily="34" charset="0"/>
              </a:rPr>
              <a:t>, volume 41, issue 1 (February 1987), pp. 6-10.</a:t>
            </a:r>
          </a:p>
          <a:p>
            <a:pPr marL="0" marR="0">
              <a:spcBef>
                <a:spcPts val="600"/>
              </a:spcBef>
              <a:buNone/>
            </a:pPr>
            <a:r>
              <a:rPr lang="en-US" sz="1200" dirty="0">
                <a:ea typeface="Calibri" panose="020F0502020204030204" pitchFamily="34" charset="0"/>
              </a:rPr>
              <a:t>Lyon, David W. (2018), “Shapley Values: Easy, Useful and Intuitive,” </a:t>
            </a:r>
            <a:r>
              <a:rPr lang="en-US" sz="1200" i="1" dirty="0">
                <a:ea typeface="Calibri" panose="020F0502020204030204" pitchFamily="34" charset="0"/>
              </a:rPr>
              <a:t>Proceedings of the 2018 Sawtooth Software Conference.  </a:t>
            </a:r>
          </a:p>
          <a:p>
            <a:pPr marL="0" marR="0">
              <a:spcBef>
                <a:spcPts val="600"/>
              </a:spcBef>
              <a:buNone/>
            </a:pPr>
            <a:r>
              <a:rPr lang="en-US" sz="1200" dirty="0">
                <a:ea typeface="Calibri" panose="020F0502020204030204" pitchFamily="34" charset="0"/>
              </a:rPr>
              <a:t>National Opinion Research Center (2024), </a:t>
            </a:r>
            <a:r>
              <a:rPr lang="en-US" sz="1200" i="1" dirty="0">
                <a:ea typeface="Calibri" panose="020F0502020204030204" pitchFamily="34" charset="0"/>
              </a:rPr>
              <a:t>The General Social Survey</a:t>
            </a:r>
            <a:r>
              <a:rPr lang="en-US" sz="1200" dirty="0">
                <a:ea typeface="Calibri" panose="020F0502020204030204" pitchFamily="34" charset="0"/>
              </a:rPr>
              <a:t>, </a:t>
            </a:r>
            <a:r>
              <a:rPr lang="en-US" sz="1200" dirty="0">
                <a:ea typeface="Calibri" panose="020F0502020204030204" pitchFamily="34" charset="0"/>
                <a:hlinkClick r:id="rId3"/>
              </a:rPr>
              <a:t>https://www.norc.org/research/projects/gss.html</a:t>
            </a:r>
            <a:endParaRPr lang="en-US" sz="1200" dirty="0">
              <a:ea typeface="Calibri" panose="020F0502020204030204" pitchFamily="34" charset="0"/>
            </a:endParaRPr>
          </a:p>
          <a:p>
            <a:pPr marL="0">
              <a:spcBef>
                <a:spcPts val="600"/>
              </a:spcBef>
              <a:buNone/>
            </a:pPr>
            <a:r>
              <a:rPr lang="en-US" sz="1200" dirty="0">
                <a:ea typeface="Calibri" panose="020F0502020204030204" pitchFamily="34" charset="0"/>
              </a:rPr>
              <a:t>Toubia, Olivier, George Gui, Tianyi Peng, Daniel Merlau, Ang Li and Haozhe Chen (2025), “Database Report: Twin-2K-500: A Data Set for Building Digital Twins of over 2,000 People Based on Their Answers to over 500 Questions,” </a:t>
            </a:r>
            <a:r>
              <a:rPr lang="en-US" sz="1200" i="1" dirty="0">
                <a:ea typeface="Calibri" panose="020F0502020204030204" pitchFamily="34" charset="0"/>
              </a:rPr>
              <a:t>Marketing Science</a:t>
            </a:r>
            <a:r>
              <a:rPr lang="en-US" sz="1200" dirty="0">
                <a:ea typeface="Calibri" panose="020F0502020204030204" pitchFamily="34" charset="0"/>
              </a:rPr>
              <a:t>, volume 44, number 6 (November-December 2025), pp. 1446-1455.  </a:t>
            </a:r>
          </a:p>
          <a:p>
            <a:pPr marL="0" marR="0">
              <a:spcBef>
                <a:spcPts val="600"/>
              </a:spcBef>
              <a:buNone/>
            </a:pPr>
            <a:endParaRPr lang="en-US" sz="1200" dirty="0">
              <a:ea typeface="Calibri" panose="020F0502020204030204" pitchFamily="34" charset="0"/>
            </a:endParaRPr>
          </a:p>
          <a:p>
            <a:pPr marL="0" marR="0">
              <a:spcBef>
                <a:spcPts val="600"/>
              </a:spcBef>
              <a:buNone/>
            </a:pPr>
            <a:endParaRPr lang="en-US" sz="24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0" marR="0">
              <a:spcBef>
                <a:spcPts val="600"/>
              </a:spcBef>
              <a:buNone/>
            </a:pPr>
            <a:endParaRPr lang="en-US" sz="24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0" marR="0">
              <a:spcBef>
                <a:spcPts val="600"/>
              </a:spcBef>
              <a:buNone/>
            </a:pPr>
            <a:endParaRPr lang="en-US" sz="1200" dirty="0">
              <a:effectLst/>
              <a:ea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DBCDC-F8F8-4323-3870-518EAF182F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73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12469356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F5D27-7B58-44B3-FCB5-B13362C45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A8B74-705A-E521-95B2-EB54C2FE4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References</a:t>
            </a:r>
            <a:r>
              <a:rPr lang="en-US" dirty="0"/>
              <a:t>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D86A7-BF3A-E644-295D-028FF098A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881" y="1132526"/>
            <a:ext cx="7742237" cy="3163583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sz="1200" dirty="0"/>
              <a:t>Yang, </a:t>
            </a:r>
            <a:r>
              <a:rPr lang="en-US" sz="1200" dirty="0" err="1"/>
              <a:t>Liuqing</a:t>
            </a:r>
            <a:r>
              <a:rPr lang="en-US" sz="1200" dirty="0"/>
              <a:t>, Yongdao Zhou, </a:t>
            </a:r>
            <a:r>
              <a:rPr lang="en-US" sz="1200" dirty="0" err="1"/>
              <a:t>Haoda</a:t>
            </a:r>
            <a:r>
              <a:rPr lang="en-US" sz="1200" dirty="0"/>
              <a:t> Fu, Min-Qian Liu and Wei Zheng (2024), “Fast Approximation of the Shapley Values Based on Order-of-Addition Experimental Designs,” </a:t>
            </a:r>
            <a:r>
              <a:rPr lang="en-US" sz="1200" i="1" dirty="0"/>
              <a:t>Journal of the American Statistical Association</a:t>
            </a:r>
            <a:r>
              <a:rPr lang="en-US" sz="1200" dirty="0"/>
              <a:t>, volume 119, issue 547 (September 2024), pp. 2294-2304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/>
              <a:t>Yang, Jian-Feng, </a:t>
            </a:r>
            <a:r>
              <a:rPr lang="en-US" sz="1200" dirty="0" err="1"/>
              <a:t>Fasheng</a:t>
            </a:r>
            <a:r>
              <a:rPr lang="en-US" sz="1200" dirty="0"/>
              <a:t> Sun and </a:t>
            </a:r>
            <a:r>
              <a:rPr lang="en-US" sz="1200" dirty="0" err="1"/>
              <a:t>Hongquan</a:t>
            </a:r>
            <a:r>
              <a:rPr lang="en-US" sz="1200" dirty="0"/>
              <a:t> Xu (2021), “A Component-Position Model, Analysis and Design for Order-of-Addition Experiments,”, </a:t>
            </a:r>
            <a:r>
              <a:rPr lang="en-US" sz="1200" i="1" dirty="0"/>
              <a:t>Technometrics</a:t>
            </a:r>
            <a:r>
              <a:rPr lang="en-US" sz="1200" dirty="0"/>
              <a:t>, volume 63, issue 2 (May 2021), pp. 212-24.</a:t>
            </a:r>
          </a:p>
          <a:p>
            <a:pPr marL="0" indent="0">
              <a:spcBef>
                <a:spcPts val="600"/>
              </a:spcBef>
              <a:buNone/>
            </a:pPr>
            <a:endParaRPr lang="en-US" sz="1200" dirty="0"/>
          </a:p>
          <a:p>
            <a:pPr marL="0" marR="0">
              <a:spcBef>
                <a:spcPts val="600"/>
              </a:spcBef>
              <a:buNone/>
            </a:pPr>
            <a:endParaRPr lang="en-US" sz="24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0" marR="0">
              <a:spcBef>
                <a:spcPts val="600"/>
              </a:spcBef>
              <a:buNone/>
            </a:pPr>
            <a:endParaRPr lang="en-US" sz="24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0" marR="0">
              <a:spcBef>
                <a:spcPts val="600"/>
              </a:spcBef>
              <a:buNone/>
            </a:pPr>
            <a:endParaRPr lang="en-US" sz="1200" dirty="0">
              <a:effectLst/>
              <a:ea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BC386-E889-EDDD-F6B6-9EDF6009EC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74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57898244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5A974-5BBA-78CA-B3AC-AE7B46D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46F57-8DC0-97F7-BEF0-38AA9168A0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75</a:t>
            </a:fld>
            <a:endParaRPr lang="en-US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C146D7-C135-3437-A00C-9842A62F8B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0881" y="1524512"/>
            <a:ext cx="7742237" cy="3163490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2060"/>
                </a:solidFill>
              </a:rPr>
              <a:t>Appendix A:</a:t>
            </a:r>
          </a:p>
          <a:p>
            <a:pPr marL="0" indent="0" algn="ctr">
              <a:buNone/>
            </a:pPr>
            <a:r>
              <a:rPr lang="en-US" sz="4800" b="1" dirty="0">
                <a:solidFill>
                  <a:srgbClr val="002060"/>
                </a:solidFill>
              </a:rPr>
              <a:t>R Software </a:t>
            </a:r>
            <a:r>
              <a:rPr lang="en-US" sz="3600" b="1" dirty="0">
                <a:solidFill>
                  <a:srgbClr val="002060"/>
                </a:solidFill>
              </a:rPr>
              <a:t>and</a:t>
            </a:r>
            <a:endParaRPr lang="en-US" sz="4800" b="1" dirty="0">
              <a:solidFill>
                <a:srgbClr val="002060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1" dirty="0">
                <a:solidFill>
                  <a:srgbClr val="002060"/>
                </a:solidFill>
              </a:rPr>
              <a:t> Design Catalog </a:t>
            </a:r>
          </a:p>
          <a:p>
            <a:pPr marL="0" indent="0" algn="ctr">
              <a:buNone/>
            </a:pP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467707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7BDE-3420-2BC7-0D6B-F1ED8BA75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BD83-4635-4813-FF5D-B8ABD3A9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 Software—COA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47D89-DBA8-4669-8AF4-CD8919883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Will generate COAs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Including multiples at a time, stacked or separate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Including dropping of variables for non-prime-power sizes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Will size, check, reduce, permute and stack COAs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Those are all incorporated in generating them too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Will also generate purely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random</a:t>
            </a:r>
            <a:r>
              <a:rPr lang="en-US" dirty="0"/>
              <a:t>, cyclic, Williams or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all</a:t>
            </a:r>
            <a:r>
              <a:rPr lang="en-US" dirty="0"/>
              <a:t> orderings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GitHub site also includes a “design catalog”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Pre-generated </a:t>
            </a:r>
            <a:r>
              <a:rPr lang="en-US" sz="1800" dirty="0"/>
              <a:t>COAs for every size from 4 to 200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E03F5-DBD7-0D2F-0F56-DEE944B3A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76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41463915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94CC2-B74E-8786-E4F5-96CC1D24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0F29-C234-C77C-FD2E-EF839934C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 Software—General Shapley Values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6AA52-7CF2-4F00-BD5D-EF3ECEA44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Includes drivers </a:t>
            </a:r>
            <a:r>
              <a:rPr lang="en-US" dirty="0"/>
              <a:t>to compute Shapley Values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Using all-combinations-based approach (smaller problems only)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Using orderings approach (i.e.,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COAs</a:t>
            </a:r>
            <a:r>
              <a:rPr lang="en-US" dirty="0"/>
              <a:t> or any other orderings)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Using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any</a:t>
            </a:r>
            <a:r>
              <a:rPr lang="en-US" dirty="0"/>
              <a:t> valuation function (bring your own) in R or C++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6B8ED-9B26-A4FF-1F80-D7500B99A7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77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83738897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B794E-686F-6134-E377-0146A480C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159D5-17B8-EBB7-408A-DD57F365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 Software—Key Driver Regressions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41E5A-49DB-7409-E20C-3FC96EE75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4" y="1097314"/>
            <a:ext cx="7742237" cy="316358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dirty="0"/>
              <a:t>Pre-written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driver/valuation combinations </a:t>
            </a:r>
            <a:r>
              <a:rPr lang="en-US" dirty="0"/>
              <a:t>(highly optimized C++)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Linear Key Driver Regressions: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2000" dirty="0"/>
              <a:t>For either straight r-squared or </a:t>
            </a:r>
            <a:r>
              <a:rPr lang="en-US" sz="2000" dirty="0">
                <a:solidFill>
                  <a:srgbClr val="0033CC"/>
                </a:solidFill>
              </a:rPr>
              <a:t>adjusted r-squared</a:t>
            </a:r>
            <a:r>
              <a:rPr lang="en-US" sz="2000" dirty="0"/>
              <a:t>,</a:t>
            </a:r>
            <a:r>
              <a:rPr lang="en-US" sz="2000" dirty="0">
                <a:solidFill>
                  <a:srgbClr val="0033CC"/>
                </a:solidFill>
              </a:rPr>
              <a:t> </a:t>
            </a:r>
            <a:r>
              <a:rPr lang="en-US" sz="2000" dirty="0"/>
              <a:t>or both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2000" dirty="0"/>
              <a:t>For </a:t>
            </a:r>
            <a:r>
              <a:rPr lang="en-US" sz="2000" dirty="0">
                <a:solidFill>
                  <a:srgbClr val="0033CC"/>
                </a:solidFill>
              </a:rPr>
              <a:t>multiple dependent variables </a:t>
            </a:r>
            <a:r>
              <a:rPr lang="en-US" sz="2000" dirty="0"/>
              <a:t>at once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2000" dirty="0"/>
              <a:t>Using </a:t>
            </a:r>
            <a:r>
              <a:rPr lang="en-US" sz="2000" u="sng" dirty="0"/>
              <a:t>either</a:t>
            </a:r>
            <a:r>
              <a:rPr lang="en-US" sz="2000" dirty="0"/>
              <a:t> all-combinations or sampled-orderings (COAs)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Logistic KDRs (much slower) (orderings-based only; 1 DV only)</a:t>
            </a:r>
          </a:p>
          <a:p>
            <a:pPr marL="447675" lvl="1" inden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59A87-952B-1D33-300E-F9BD7F621E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78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14802353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43BD3-4B33-14CF-56A6-FF0B115BB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8D7C7-6CB4-62D1-E5A3-01C83BD1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 Software—TURF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A6544-EE6C-5945-87F9-7544E4007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4" y="1097314"/>
            <a:ext cx="7742237" cy="316358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dirty="0"/>
              <a:t>Pre-written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driver/valuation combinations </a:t>
            </a:r>
            <a:r>
              <a:rPr lang="en-US" dirty="0"/>
              <a:t>(highly optimized C++)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/>
              <a:t>TURF (orderings-based only):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For typical 0/1 problems with any “depth”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For </a:t>
            </a:r>
            <a:r>
              <a:rPr lang="en-US" dirty="0">
                <a:solidFill>
                  <a:srgbClr val="0033CC"/>
                </a:solidFill>
              </a:rPr>
              <a:t>weighted probability MaxDiff </a:t>
            </a:r>
            <a:r>
              <a:rPr lang="en-US" dirty="0"/>
              <a:t>scores: MNL, Sawtooth or anchored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For </a:t>
            </a:r>
            <a:r>
              <a:rPr lang="en-US" dirty="0">
                <a:solidFill>
                  <a:srgbClr val="0033CC"/>
                </a:solidFill>
              </a:rPr>
              <a:t>post-thresholding on weighted prob </a:t>
            </a:r>
            <a:r>
              <a:rPr lang="en-US" dirty="0"/>
              <a:t>scores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For variants other than “reach” (see Lyon 2018)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809E8-611F-CBF5-4BD7-C1559B2927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79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04973091"/>
      </p:ext>
    </p:extLst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C54DF-0C23-A7F4-876F-AECD76DC6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49E1-8393-0CE1-E69E-40627875C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 Software—TURF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50B69-B109-AEC9-6BBC-9B30C53B9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5" y="1196793"/>
            <a:ext cx="7742237" cy="316358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dirty="0"/>
              <a:t>Exact fast Shapley Values with “hypergeometric trick” (0/1) (see Lyon 2018)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/>
              <a:t>For not-too-large numbers of items: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Full TURF analysis, any depth, and for non-reach variants as well (see Lyon 2018)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Shapley Values from results (for all combos) from any source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Find best combinations, by full search, by stepwise or by top Shapley values</a:t>
            </a:r>
          </a:p>
          <a:p>
            <a:pPr marL="0" indent="0">
              <a:spcBef>
                <a:spcPts val="120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09ABA-BB32-1618-C3E1-6A378C1350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80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35072587"/>
      </p:ext>
    </p:extLst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1EE1-DEA4-F3B8-506B-ED61EDB6C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40653-8910-CF6C-256F-384DC3451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 Software—Other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BDF87-1DAC-164C-7163-128EC5288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5" y="1196793"/>
            <a:ext cx="7742237" cy="316358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dirty="0"/>
              <a:t>The following may not be immediately available but will be added:</a:t>
            </a:r>
          </a:p>
          <a:p>
            <a:pPr>
              <a:spcBef>
                <a:spcPts val="1200"/>
              </a:spcBef>
            </a:pPr>
            <a:r>
              <a:rPr lang="en-US" dirty="0"/>
              <a:t>Support for respondent weights in all cases</a:t>
            </a:r>
          </a:p>
          <a:p>
            <a:pPr>
              <a:spcBef>
                <a:spcPts val="1200"/>
              </a:spcBef>
            </a:pPr>
            <a:r>
              <a:rPr lang="en-US" dirty="0"/>
              <a:t>Support for parallelization, either to split very-large orderings sets or to use multiple COAs to assess estimation accuracy simultaneously</a:t>
            </a:r>
          </a:p>
          <a:p>
            <a:pPr>
              <a:spcBef>
                <a:spcPts val="1200"/>
              </a:spcBef>
            </a:pPr>
            <a:r>
              <a:rPr lang="en-US" dirty="0"/>
              <a:t>Support for size-limited Shapley Values in all routines (some functions now support them, but not all)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4A773-CCAD-9DF0-4082-07BE58E7DC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81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32855109"/>
      </p:ext>
    </p:extLst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A8BA2-D782-3436-E38E-EA03DE0C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EF92-5636-BA22-01AB-C8F10C02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GitHub for </a:t>
            </a:r>
            <a:r>
              <a:rPr lang="en-US" sz="2800" b="1" dirty="0"/>
              <a:t>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Software &amp; </a:t>
            </a:r>
            <a:r>
              <a:rPr lang="en-US" sz="2800" b="1" dirty="0"/>
              <a:t>Design Catalog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08B7F-A1F0-385D-EAF3-DA1D65629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15" y="1196793"/>
            <a:ext cx="7742237" cy="316358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b="1" dirty="0"/>
              <a:t>R</a:t>
            </a:r>
            <a:r>
              <a:rPr lang="en-US" dirty="0"/>
              <a:t> package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ShapCOA</a:t>
            </a:r>
            <a:r>
              <a:rPr lang="en-US" dirty="0"/>
              <a:t> with all the functions just mentioned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Free and publicly available at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github.com/DWLyon17/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ShapCOA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dirty="0"/>
          </a:p>
          <a:p>
            <a:pPr marL="0" indent="0">
              <a:spcBef>
                <a:spcPts val="1200"/>
              </a:spcBef>
              <a:buNone/>
            </a:pPr>
            <a:r>
              <a:rPr lang="en-US" dirty="0"/>
              <a:t>A catalog of COA designs for all numbers of items from 4 to 225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As CSV (Excel, ASCII) files, usable anywhere, not dependent on R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One COA per number of items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Free and publicly available at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github.com/DWLyon17/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COAdesigns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endParaRPr lang="en-US" dirty="0"/>
          </a:p>
          <a:p>
            <a:pPr marL="0" indent="0">
              <a:spcBef>
                <a:spcPts val="120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AEF6B-B8E5-E2B7-FC08-FE8C2F729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82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12481029"/>
      </p:ext>
    </p:extLst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Other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328" y="989958"/>
            <a:ext cx="7742237" cy="3163583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R package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relaimpo</a:t>
            </a:r>
            <a:r>
              <a:rPr lang="en-US" dirty="0"/>
              <a:t> (“relative importance”) handles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linear KDRs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Its default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lmg</a:t>
            </a:r>
            <a:r>
              <a:rPr lang="en-US" sz="1800" dirty="0"/>
              <a:t> option is for Shapley Values (much slower than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ShapCOA</a:t>
            </a:r>
            <a:r>
              <a:rPr lang="en-US" sz="1800" dirty="0"/>
              <a:t>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Its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genizi</a:t>
            </a:r>
            <a:r>
              <a:rPr lang="en-US" sz="1800" dirty="0"/>
              <a:t> option produces Johnson’s Relative Weights Analysis (RWA)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Several other r-squared dividing options are also offered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Uses an all-combinations approach for Shapley Values, so 25 items or so is the largest feasible problem.  Most other options are very fast.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Can handle variable </a:t>
            </a:r>
            <a:r>
              <a:rPr lang="en-US" sz="1800" i="1" dirty="0"/>
              <a:t>groups</a:t>
            </a:r>
            <a:r>
              <a:rPr lang="en-US" sz="1800" dirty="0"/>
              <a:t>, treating all dummy vars from one question as a single entity, for example.  Can force some variables </a:t>
            </a:r>
            <a:r>
              <a:rPr lang="en-US" sz="1800" i="1" dirty="0"/>
              <a:t>always-in</a:t>
            </a:r>
            <a:r>
              <a:rPr lang="en-US" sz="1800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Includes plotting and bootstrapping options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Does </a:t>
            </a:r>
            <a:r>
              <a:rPr lang="en-US" sz="1800" u="sng" dirty="0"/>
              <a:t>not</a:t>
            </a:r>
            <a:r>
              <a:rPr lang="en-US" sz="1800" dirty="0"/>
              <a:t> handle </a:t>
            </a:r>
            <a:r>
              <a:rPr lang="en-US" sz="1800" i="1" dirty="0"/>
              <a:t>adjusted</a:t>
            </a:r>
            <a:r>
              <a:rPr lang="en-US" sz="1800" dirty="0"/>
              <a:t> r-squared, </a:t>
            </a:r>
            <a:r>
              <a:rPr lang="en-US" sz="1800" i="1" dirty="0"/>
              <a:t>multiple</a:t>
            </a:r>
            <a:r>
              <a:rPr lang="en-US" sz="1800" dirty="0"/>
              <a:t> dependents or </a:t>
            </a:r>
            <a:r>
              <a:rPr lang="en-US" sz="1800" i="1" dirty="0"/>
              <a:t>non-linear</a:t>
            </a:r>
            <a:r>
              <a:rPr lang="en-US" sz="1800" dirty="0"/>
              <a:t>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83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57012093"/>
      </p:ext>
    </p:extLst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B3DC8-B8F0-287B-0741-160EAC74E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FE291-7B6D-7941-94A4-2F423B3718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84</a:t>
            </a:fld>
            <a:endParaRPr lang="en-US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D13294A-258E-72A1-6301-F611F381E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915" y="1187055"/>
            <a:ext cx="7742237" cy="3163490"/>
          </a:xfrm>
        </p:spPr>
        <p:txBody>
          <a:bodyPr/>
          <a:lstStyle/>
          <a:p>
            <a:pPr marL="0" indent="0" algn="ctr">
              <a:buNone/>
            </a:pPr>
            <a:endParaRPr lang="en-US" sz="44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4400" b="1" dirty="0">
                <a:solidFill>
                  <a:srgbClr val="002060"/>
                </a:solidFill>
              </a:rPr>
              <a:t>Appendix B:</a:t>
            </a:r>
          </a:p>
          <a:p>
            <a:pPr marL="0" indent="0" algn="ctr">
              <a:buNone/>
            </a:pPr>
            <a:r>
              <a:rPr lang="en-US" sz="4800" b="1" dirty="0">
                <a:solidFill>
                  <a:srgbClr val="002060"/>
                </a:solidFill>
              </a:rPr>
              <a:t>Software Timings</a:t>
            </a:r>
          </a:p>
        </p:txBody>
      </p:sp>
    </p:spTree>
    <p:extLst>
      <p:ext uri="{BB962C8B-B14F-4D97-AF65-F5344CB8AC3E}">
        <p14:creationId xmlns:p14="http://schemas.microsoft.com/office/powerpoint/2010/main" val="921478479"/>
      </p:ext>
    </p:extLst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D1415-3E7F-1E21-8480-A54A5C00C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4670-303A-456A-9F39-19676A8FC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Timing Considerations – All COAs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E318F-A705-ADC0-E8CB-A2F2C4657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All</a:t>
            </a:r>
            <a:r>
              <a:rPr lang="en-US" dirty="0"/>
              <a:t> COA-based approaches include an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n^3</a:t>
            </a:r>
            <a:r>
              <a:rPr lang="en-US" dirty="0"/>
              <a:t> (n-cubed) component: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800" dirty="0"/>
              <a:t>Orderings in a COA: 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 ( n – 1 )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800" dirty="0"/>
              <a:t>Length of each ordering: 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For size-limited Shapley Values, the last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dirty="0"/>
              <a:t> becomes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en-US" dirty="0"/>
              <a:t>, maximum combination size considered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If COAs are stacked, the number stacked enters into things, linearly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Generating COAs, in R, on the fly, is also an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n^3 </a:t>
            </a:r>
            <a:r>
              <a:rPr lang="en-US" dirty="0"/>
              <a:t>process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800" dirty="0"/>
              <a:t>But only 0.5 second even for a 200-item COA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CD4B5-2274-83E1-8965-D0F4C37B73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85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55978708"/>
      </p:ext>
    </p:extLst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3311-8000-E0DD-8BF3-3279352B8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785B5-A5F6-83A1-7CC9-E94ECF21A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Timing Considerations – Timing 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EB954-E7AC-CB5C-847A-58D892328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Following graphs for each type of problem show actual timing trials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Note log scale on vertical (time) axis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dirty="0"/>
              <a:t>Timed on an Intel Core i7-8750H CPU @ 2.2GHz 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(a 2018-vintage laptop)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Under Windows 10, R 4.5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With R using the Intel MKL (Math Kernel Library) 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Without any use of parallel processes or multi-threading except as </a:t>
            </a:r>
            <a:r>
              <a:rPr lang="en-US" dirty="0" err="1"/>
              <a:t>builtin</a:t>
            </a:r>
            <a:r>
              <a:rPr lang="en-US" dirty="0"/>
              <a:t> to R or MKL.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1232D-BAF7-AA14-DEDF-C38F32D8B3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86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8151647"/>
      </p:ext>
    </p:extLst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BD01C-C808-553C-2CA5-40590F9F9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09210-BCEA-9821-CB86-D5F1CC8B8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87</a:t>
            </a:fld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B1B79-77DC-C284-DEAC-F204F2595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99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980641"/>
      </p:ext>
    </p:extLst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B8D40-0A09-5199-6CFE-CC1ED86A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B8DF-962D-2F01-DC39-FAE9A9B4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Timing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Considerations – TURFs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EE439-D854-F64C-FF3F-B7C2B9727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All COA-based approaches include an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n^3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(n-cubed) component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b="1" dirty="0"/>
              <a:t>TURF</a:t>
            </a:r>
            <a:r>
              <a:rPr lang="en-US" dirty="0"/>
              <a:t> computations do depend on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dirty="0"/>
              <a:t>, number of respondents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800" dirty="0"/>
              <a:t>But only linearly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800" dirty="0"/>
              <a:t>And no extra complexity per ordering or per evaluation</a:t>
            </a:r>
          </a:p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So </a:t>
            </a: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 N  n^3 )  </a:t>
            </a:r>
            <a:r>
              <a:rPr lang="en-US" dirty="0"/>
              <a:t>net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800" dirty="0"/>
              <a:t>But only for weighted-probability</a:t>
            </a:r>
            <a:r>
              <a:rPr lang="en-US" dirty="0"/>
              <a:t>, </a:t>
            </a:r>
            <a:r>
              <a:rPr lang="en-US" sz="1800" dirty="0"/>
              <a:t>non-pre-</a:t>
            </a:r>
            <a:r>
              <a:rPr lang="en-US" sz="1800" dirty="0" err="1"/>
              <a:t>thresholded</a:t>
            </a:r>
            <a:r>
              <a:rPr lang="en-US" sz="1800" dirty="0"/>
              <a:t> </a:t>
            </a:r>
            <a:r>
              <a:rPr lang="en-US" sz="1800" dirty="0" err="1"/>
              <a:t>MaxDiffs</a:t>
            </a:r>
            <a:endParaRPr lang="en-US" sz="1800" dirty="0"/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lang="en-US" dirty="0"/>
              <a:t>For 0-1 TURF,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hypergeometric exact</a:t>
            </a:r>
            <a:r>
              <a:rPr lang="en-US" dirty="0"/>
              <a:t> time is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trivial</a:t>
            </a:r>
          </a:p>
          <a:p>
            <a:pPr lvl="1">
              <a:lnSpc>
                <a:spcPct val="100000"/>
              </a:lnSpc>
              <a:spcBef>
                <a:spcPts val="400"/>
              </a:spcBef>
            </a:pPr>
            <a:r>
              <a:rPr lang="en-US" dirty="0"/>
              <a:t>Includes pre-</a:t>
            </a:r>
            <a:r>
              <a:rPr lang="en-US" dirty="0" err="1"/>
              <a:t>thresholded</a:t>
            </a:r>
            <a:r>
              <a:rPr lang="en-US" dirty="0"/>
              <a:t> </a:t>
            </a:r>
            <a:r>
              <a:rPr lang="en-US" dirty="0" err="1"/>
              <a:t>MaxDiffs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Show specific numbers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29015-AF34-0CE2-0C28-11FED91B36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88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11787789"/>
      </p:ext>
    </p:extLst>
  </p:cSld>
  <p:clrMapOvr>
    <a:masterClrMapping/>
  </p:clrMapOvr>
  <p:transition spd="med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285B5-86C8-04BE-2C6B-4BB0F9158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14942-41B0-A680-918E-39872C48A7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89</a:t>
            </a:fld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3631D2-3199-5098-B8BE-AC398A37F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9951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607A97-112A-21B3-A6D8-F5308ADF241B}"/>
              </a:ext>
            </a:extLst>
          </p:cNvPr>
          <p:cNvSpPr txBox="1"/>
          <p:nvPr/>
        </p:nvSpPr>
        <p:spPr>
          <a:xfrm>
            <a:off x="3265714" y="4524929"/>
            <a:ext cx="3543300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>
                <a:solidFill>
                  <a:srgbClr val="C00000"/>
                </a:solidFill>
              </a:rPr>
              <a:t>Number </a:t>
            </a:r>
            <a:r>
              <a:rPr lang="en-US" sz="18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sz="1800" b="1" dirty="0">
                <a:solidFill>
                  <a:srgbClr val="C00000"/>
                </a:solidFill>
              </a:rPr>
              <a:t> </a:t>
            </a:r>
            <a:r>
              <a:rPr lang="en-US" sz="1600" b="1" dirty="0">
                <a:solidFill>
                  <a:srgbClr val="C00000"/>
                </a:solidFill>
              </a:rPr>
              <a:t>of Items</a:t>
            </a:r>
          </a:p>
        </p:txBody>
      </p:sp>
    </p:spTree>
    <p:extLst>
      <p:ext uri="{BB962C8B-B14F-4D97-AF65-F5344CB8AC3E}">
        <p14:creationId xmlns:p14="http://schemas.microsoft.com/office/powerpoint/2010/main" val="1343643"/>
      </p:ext>
    </p:extLst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A6ABE-DBCD-E282-D883-507F514EF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20CC2-A05C-ABF2-0E09-5D9E51BCDA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90</a:t>
            </a:fld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428215-CC0C-D041-5D98-DC2C1CE75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9951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C0B893-9AA6-0008-421A-F89ED4AE9586}"/>
              </a:ext>
            </a:extLst>
          </p:cNvPr>
          <p:cNvSpPr txBox="1"/>
          <p:nvPr/>
        </p:nvSpPr>
        <p:spPr>
          <a:xfrm>
            <a:off x="1112435" y="496530"/>
            <a:ext cx="5499759" cy="58477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Times jump about 50% when </a:t>
            </a:r>
            <a:r>
              <a:rPr lang="en-US" sz="16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 </a:t>
            </a:r>
            <a:r>
              <a:rPr lang="en-US" sz="1600" b="1" i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(respondents times items) exceeds 250,000, presumably due to CPU caching limits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684EC-35FD-07B3-95BC-7EA248CF1D0C}"/>
              </a:ext>
            </a:extLst>
          </p:cNvPr>
          <p:cNvSpPr txBox="1"/>
          <p:nvPr/>
        </p:nvSpPr>
        <p:spPr>
          <a:xfrm>
            <a:off x="3265714" y="4524929"/>
            <a:ext cx="3543300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>
                <a:solidFill>
                  <a:srgbClr val="C00000"/>
                </a:solidFill>
              </a:rPr>
              <a:t>Number </a:t>
            </a:r>
            <a:r>
              <a:rPr lang="en-US" sz="18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sz="1600" b="1" dirty="0">
                <a:solidFill>
                  <a:srgbClr val="C00000"/>
                </a:solidFill>
              </a:rPr>
              <a:t> of Respondents</a:t>
            </a:r>
          </a:p>
        </p:txBody>
      </p:sp>
    </p:spTree>
    <p:extLst>
      <p:ext uri="{BB962C8B-B14F-4D97-AF65-F5344CB8AC3E}">
        <p14:creationId xmlns:p14="http://schemas.microsoft.com/office/powerpoint/2010/main" val="3615295613"/>
      </p:ext>
    </p:extLst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91709-646B-727E-36FB-64A9E6777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438C-ECD8-EEAB-174D-70A183EB4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Timing Considerations – Linear KDRs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ACF35-F0AD-3E32-D8FB-6E8CB1884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All COA-based approaches include an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n^3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(n-cubed) component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Linear KDRs manipulate a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n^2 </a:t>
            </a:r>
            <a:r>
              <a:rPr lang="en-US" dirty="0"/>
              <a:t>variance-covariance matrix</a:t>
            </a:r>
            <a:endParaRPr lang="en-US" b="1" i="1" dirty="0">
              <a:solidFill>
                <a:schemeClr val="accent4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Net result:  linear KDRs with COAs time requirements are </a:t>
            </a: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n^5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+mj-lt"/>
                <a:ea typeface="Cambria" panose="02040503050406030204" pitchFamily="18" charset="0"/>
              </a:rPr>
              <a:t>Number of respondents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dirty="0">
                <a:latin typeface="+mj-lt"/>
                <a:ea typeface="Cambria" panose="02040503050406030204" pitchFamily="18" charset="0"/>
              </a:rPr>
              <a:t> does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  <a:ea typeface="Cambria" panose="02040503050406030204" pitchFamily="18" charset="0"/>
              </a:rPr>
              <a:t>not</a:t>
            </a:r>
            <a:r>
              <a:rPr lang="en-US" dirty="0">
                <a:latin typeface="+mj-lt"/>
                <a:ea typeface="Cambria" panose="02040503050406030204" pitchFamily="18" charset="0"/>
              </a:rPr>
              <a:t> matter </a:t>
            </a:r>
          </a:p>
          <a:p>
            <a:r>
              <a:rPr lang="en-US" sz="1800" dirty="0"/>
              <a:t>Except trivially in one-time construction </a:t>
            </a:r>
            <a:r>
              <a:rPr lang="en-US" dirty="0">
                <a:latin typeface="+mj-lt"/>
                <a:ea typeface="Cambria" panose="02040503050406030204" pitchFamily="18" charset="0"/>
              </a:rPr>
              <a:t>of the var-covar matrix</a:t>
            </a:r>
          </a:p>
          <a:p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+mj-lt"/>
                <a:ea typeface="Cambria" panose="02040503050406030204" pitchFamily="18" charset="0"/>
              </a:rPr>
              <a:t>R package </a:t>
            </a:r>
            <a:r>
              <a:rPr lang="en-US" b="1" dirty="0" err="1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relaimpo</a:t>
            </a:r>
            <a:r>
              <a:rPr lang="en-US" dirty="0">
                <a:latin typeface="+mj-lt"/>
                <a:ea typeface="Cambria" panose="02040503050406030204" pitchFamily="18" charset="0"/>
              </a:rPr>
              <a:t> uses an all-combinations approach,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+mj-lt"/>
                <a:ea typeface="Cambria" panose="02040503050406030204" pitchFamily="18" charset="0"/>
              </a:rPr>
              <a:t>so </a:t>
            </a: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( 2^n  n^3 )</a:t>
            </a:r>
          </a:p>
          <a:p>
            <a:pPr marL="0" indent="0">
              <a:buNone/>
            </a:pPr>
            <a:endParaRPr lang="en-US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45D70-379C-8CC4-37DB-7B6F93062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91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67283176"/>
      </p:ext>
    </p:extLst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5B6A9-06D3-AE5E-E0DC-D94C0FF02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48349-FF1E-CDBB-9C54-31D44F737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047B8-DBE4-CE38-F54B-7745A8FFCC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92</a:t>
            </a:fld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027F37-9BA7-3D83-D15D-FE67DAC54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35767" cy="499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32377"/>
      </p:ext>
    </p:extLst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BB718-EEEC-70A3-A33F-DB06013EC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537E7-BE9F-0D00-C701-6EBB6533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Timing Considerations – Logistic Regressions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8871F-E510-EEC8-CA97-A5AF3382D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All COA-based approaches include an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n^3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(n-cubed) component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b="1" dirty="0"/>
              <a:t>Logistic Regressions </a:t>
            </a:r>
            <a:r>
              <a:rPr lang="en-US" u="sng" dirty="0"/>
              <a:t>do </a:t>
            </a:r>
            <a:r>
              <a:rPr lang="en-US" dirty="0"/>
              <a:t>depend on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dirty="0"/>
              <a:t>, number of respondents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800" dirty="0"/>
              <a:t>But only linearly</a:t>
            </a:r>
          </a:p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Also have to solve for up to 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dirty="0"/>
              <a:t> parameters in each regression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800" dirty="0"/>
              <a:t>Partly avoided by using each step’s result at starting estimate for next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800" dirty="0"/>
              <a:t>Seems not to affect number of ML iterations very much</a:t>
            </a:r>
          </a:p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So </a:t>
            </a: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 N  n^3 </a:t>
            </a:r>
            <a:r>
              <a:rPr lang="en-US" sz="2400" b="1" i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 </a:t>
            </a:r>
            <a:r>
              <a:rPr lang="en-US" dirty="0"/>
              <a:t>net.  Data actually shows </a:t>
            </a: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 N  n^4) </a:t>
            </a:r>
          </a:p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Aside from the order, logistics are inherently </a:t>
            </a:r>
            <a:r>
              <a:rPr lang="en-US" b="1" dirty="0"/>
              <a:t>much</a:t>
            </a:r>
            <a:r>
              <a:rPr lang="en-US" dirty="0"/>
              <a:t> slower to run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AC5F0-0BBF-9857-233D-BA0E20F13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93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43866207"/>
      </p:ext>
    </p:extLst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D5FC9-902B-36C0-BA05-581FCC3DB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D6CB5-B551-20C9-41F3-BA1FAC3802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94</a:t>
            </a:fld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3F8F2D-EDAD-3CCD-D5CE-B706643D3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99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32571"/>
      </p:ext>
    </p:extLst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78C76-F8CA-E6EC-11CE-B91A0544B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7D8F6-78E7-1BB1-C92F-F3BB647798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95</a:t>
            </a:fld>
            <a:endParaRPr lang="en-US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04C924-C4FD-A89F-37E5-0C36691E1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915" y="1645920"/>
            <a:ext cx="7742237" cy="3163490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2060"/>
                </a:solidFill>
              </a:rPr>
              <a:t>Appendix C:</a:t>
            </a:r>
          </a:p>
          <a:p>
            <a:pPr marL="0" indent="0" algn="ctr">
              <a:buNone/>
            </a:pPr>
            <a:r>
              <a:rPr lang="en-US" sz="4800" b="1" dirty="0">
                <a:solidFill>
                  <a:srgbClr val="002060"/>
                </a:solidFill>
              </a:rPr>
              <a:t>Johnson’s Relative Weights Analysis</a:t>
            </a:r>
          </a:p>
        </p:txBody>
      </p:sp>
    </p:spTree>
    <p:extLst>
      <p:ext uri="{BB962C8B-B14F-4D97-AF65-F5344CB8AC3E}">
        <p14:creationId xmlns:p14="http://schemas.microsoft.com/office/powerpoint/2010/main" val="1166706017"/>
      </p:ext>
    </p:extLst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9D223-C910-B7DB-9AB1-C8C03F97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6D1BB-A0FB-116E-A2FF-06155A7A6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Johnson’s Relative Weights Analysis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7C3C1-DCEB-850D-76B2-5CD245394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Johnson’s RWA: a totally different approach to dividing r-squared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For </a:t>
            </a:r>
            <a:r>
              <a:rPr lang="en-US" u="sng" dirty="0"/>
              <a:t>linear</a:t>
            </a:r>
            <a:r>
              <a:rPr lang="en-US" dirty="0"/>
              <a:t> Key Driver Regressions only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Different theory, but results fairly close to Shapley Values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Shares “efficiency” and “dummy/null” properties of SVs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Very fast to compute, even for large problems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All just linear algebra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0033CC"/>
                </a:solidFill>
              </a:rPr>
              <a:t>50 </a:t>
            </a:r>
            <a:r>
              <a:rPr lang="en-US" dirty="0" err="1">
                <a:solidFill>
                  <a:srgbClr val="0033CC"/>
                </a:solidFill>
              </a:rPr>
              <a:t>millisec</a:t>
            </a:r>
            <a:r>
              <a:rPr lang="en-US" dirty="0">
                <a:solidFill>
                  <a:srgbClr val="0033CC"/>
                </a:solidFill>
              </a:rPr>
              <a:t> </a:t>
            </a:r>
            <a:r>
              <a:rPr lang="en-US" dirty="0"/>
              <a:t>for 203 variables (vs. </a:t>
            </a:r>
            <a:r>
              <a:rPr lang="en-US" dirty="0">
                <a:solidFill>
                  <a:srgbClr val="0033CC"/>
                </a:solidFill>
              </a:rPr>
              <a:t>23.5 mins </a:t>
            </a:r>
            <a:r>
              <a:rPr lang="en-US" dirty="0"/>
              <a:t>COA that size)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Good enough to substitute for Shapley Values?</a:t>
            </a:r>
          </a:p>
          <a:p>
            <a:pPr marL="0" indent="0">
              <a:buNone/>
            </a:pPr>
            <a:endParaRPr lang="en-US" dirty="0"/>
          </a:p>
          <a:p>
            <a:pPr marL="642938" lvl="2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923AC-9792-FC72-A2F5-9E085154EE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96</a:t>
            </a:fld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5D5D8B-7C40-1959-B6E5-0A61617B4B4D}"/>
              </a:ext>
            </a:extLst>
          </p:cNvPr>
          <p:cNvSpPr txBox="1"/>
          <p:nvPr/>
        </p:nvSpPr>
        <p:spPr>
          <a:xfrm>
            <a:off x="8890565" y="0"/>
            <a:ext cx="253435" cy="261610"/>
          </a:xfrm>
          <a:prstGeom prst="rect">
            <a:avLst/>
          </a:prstGeom>
          <a:solidFill>
            <a:srgbClr val="FF00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endParaRPr lang="en-US" sz="3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892861"/>
      </p:ext>
    </p:extLst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86180-CB18-792F-7EE1-0B35E086C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04B60-4DB3-19FD-0A4F-970142BAD3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97</a:t>
            </a:fld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97F176-1CD1-7BE5-F59B-FDD638040D27}"/>
              </a:ext>
            </a:extLst>
          </p:cNvPr>
          <p:cNvSpPr txBox="1"/>
          <p:nvPr/>
        </p:nvSpPr>
        <p:spPr>
          <a:xfrm>
            <a:off x="739795" y="1048909"/>
            <a:ext cx="7597960" cy="1015663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For 16-variable KDR, both look “pretty good”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But note 9::1 difference in RMS CVs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DFB29F-F7C6-1325-272C-AD748607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15" y="400050"/>
            <a:ext cx="7742237" cy="391257"/>
          </a:xfrm>
        </p:spPr>
        <p:txBody>
          <a:bodyPr/>
          <a:lstStyle/>
          <a:p>
            <a:r>
              <a:rPr lang="en-US" sz="2800" dirty="0"/>
              <a:t>Johnson’s Relative Weights Analysis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DA2E4-1972-4CB1-F8B1-897B7F2C27A6}"/>
              </a:ext>
            </a:extLst>
          </p:cNvPr>
          <p:cNvSpPr txBox="1"/>
          <p:nvPr/>
        </p:nvSpPr>
        <p:spPr>
          <a:xfrm>
            <a:off x="759459" y="2491451"/>
            <a:ext cx="7597960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b="1" dirty="0"/>
              <a:t>General Social Study, 16-Item KDR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5C2DD2-42DE-6603-C61A-2BD1CF10C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561" y="2601371"/>
            <a:ext cx="9144000" cy="22881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BFC0E6-B633-1F29-DA63-E6B1F12BB47C}"/>
              </a:ext>
            </a:extLst>
          </p:cNvPr>
          <p:cNvSpPr txBox="1"/>
          <p:nvPr/>
        </p:nvSpPr>
        <p:spPr>
          <a:xfrm>
            <a:off x="8890565" y="0"/>
            <a:ext cx="253435" cy="261610"/>
          </a:xfrm>
          <a:prstGeom prst="rect">
            <a:avLst/>
          </a:prstGeom>
          <a:solidFill>
            <a:srgbClr val="FF00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endParaRPr lang="en-US" sz="3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001288"/>
      </p:ext>
    </p:extLst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EC14E-8DB7-EA55-8928-491CAD95A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790AA-972D-E1EE-505B-C57365C07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98</a:t>
            </a:fld>
            <a:endParaRPr lang="en-US" sz="12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C504F53-A80D-DD4C-742E-D69F2797C1E2}"/>
              </a:ext>
            </a:extLst>
          </p:cNvPr>
          <p:cNvSpPr txBox="1">
            <a:spLocks/>
          </p:cNvSpPr>
          <p:nvPr/>
        </p:nvSpPr>
        <p:spPr bwMode="auto">
          <a:xfrm>
            <a:off x="593676" y="129663"/>
            <a:ext cx="7742237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dirty="0"/>
              <a:t>Johnson’s Relative Weights Analysis</a:t>
            </a:r>
            <a:endParaRPr lang="en-US" sz="2800" kern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86F4D5-CFBB-D6A5-CB54-01429B80DBA2}"/>
              </a:ext>
            </a:extLst>
          </p:cNvPr>
          <p:cNvSpPr txBox="1"/>
          <p:nvPr/>
        </p:nvSpPr>
        <p:spPr>
          <a:xfrm>
            <a:off x="172066" y="692996"/>
            <a:ext cx="1233948" cy="3662541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Differ-</a:t>
            </a:r>
            <a:r>
              <a:rPr lang="en-US" sz="2000" dirty="0" err="1"/>
              <a:t>ences</a:t>
            </a:r>
            <a:r>
              <a:rPr lang="en-US" sz="2000" dirty="0"/>
              <a:t> on these two are </a:t>
            </a:r>
            <a:r>
              <a:rPr lang="en-US" sz="2000" b="1" dirty="0">
                <a:solidFill>
                  <a:srgbClr val="0033CC"/>
                </a:solidFill>
              </a:rPr>
              <a:t>large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000" dirty="0"/>
              <a:t>RWA RMS CVs  </a:t>
            </a:r>
            <a:r>
              <a:rPr lang="en-US" sz="2000" b="1" dirty="0">
                <a:solidFill>
                  <a:srgbClr val="0033CC"/>
                </a:solidFill>
              </a:rPr>
              <a:t>~20X </a:t>
            </a:r>
            <a:r>
              <a:rPr lang="en-US" sz="2000" dirty="0"/>
              <a:t>COA’s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2000" dirty="0"/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600" dirty="0"/>
              <a:t>2K-500 24- &amp; 29-KDRs</a:t>
            </a:r>
            <a:endParaRPr lang="en-US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B01AAB-831D-84AC-10D3-5AFB65EF3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65760"/>
            <a:ext cx="7678826" cy="44784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4CA578-C211-0B48-5FFC-3D408ADC1223}"/>
              </a:ext>
            </a:extLst>
          </p:cNvPr>
          <p:cNvSpPr txBox="1"/>
          <p:nvPr/>
        </p:nvSpPr>
        <p:spPr>
          <a:xfrm>
            <a:off x="8890565" y="0"/>
            <a:ext cx="253435" cy="261610"/>
          </a:xfrm>
          <a:prstGeom prst="rect">
            <a:avLst/>
          </a:prstGeom>
          <a:solidFill>
            <a:srgbClr val="FF00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endParaRPr lang="en-US" sz="3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277335"/>
      </p:ext>
    </p:extLst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6F72B-9725-A90D-9CFC-53C47464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566F-B6D7-2B87-B745-A53C263D21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99</a:t>
            </a:fld>
            <a:endParaRPr lang="en-US" sz="12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52A69C-3F8F-0D5E-B04D-AE2586C772B1}"/>
              </a:ext>
            </a:extLst>
          </p:cNvPr>
          <p:cNvSpPr txBox="1">
            <a:spLocks/>
          </p:cNvSpPr>
          <p:nvPr/>
        </p:nvSpPr>
        <p:spPr bwMode="auto">
          <a:xfrm>
            <a:off x="593676" y="129663"/>
            <a:ext cx="7742237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dirty="0"/>
              <a:t>Johnson’s Relative Weights Analysis</a:t>
            </a:r>
            <a:endParaRPr lang="en-US" sz="2800" kern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6A9A12-09D4-C538-4241-AF4F9BB3C019}"/>
              </a:ext>
            </a:extLst>
          </p:cNvPr>
          <p:cNvSpPr txBox="1"/>
          <p:nvPr/>
        </p:nvSpPr>
        <p:spPr>
          <a:xfrm>
            <a:off x="593676" y="817424"/>
            <a:ext cx="4950541" cy="1754326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/>
              <a:t>For larger KDRs, no exact Shapley Values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8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/>
              <a:t>But we know COA approximations are highly accurate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endParaRPr lang="en-US" sz="18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And Johnson’s RWAs don’t match that well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DFF580-F524-E81C-AB7F-F5D637FA91CC}"/>
              </a:ext>
            </a:extLst>
          </p:cNvPr>
          <p:cNvSpPr txBox="1"/>
          <p:nvPr/>
        </p:nvSpPr>
        <p:spPr>
          <a:xfrm>
            <a:off x="8890565" y="0"/>
            <a:ext cx="253435" cy="261610"/>
          </a:xfrm>
          <a:prstGeom prst="rect">
            <a:avLst/>
          </a:prstGeom>
          <a:solidFill>
            <a:srgbClr val="FF0000"/>
          </a:solidFill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endParaRPr lang="en-US" sz="3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66D00B-693F-1E90-375B-D48EB9944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65760"/>
            <a:ext cx="7678826" cy="447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158252"/>
      </p:ext>
    </p:extLst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EB72-A07F-4115-37B2-B136C8F7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4C0D9-FCEB-B1B0-72C9-75DBD5862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Johnson’s Relative Weights Analysis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770AD-F4A9-36E1-3D62-B0CF6AD15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Good enough to substitute for Shapley Values?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Speed is a major advantage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SEs/CIs are directly estimable (no bootstrapping) (don’t ask </a:t>
            </a:r>
            <a:r>
              <a:rPr lang="en-US" sz="1800" i="1" dirty="0"/>
              <a:t>me</a:t>
            </a:r>
            <a:r>
              <a:rPr lang="en-US" sz="1800" dirty="0"/>
              <a:t> how)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Explanations can be harder: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Need to explain the linear algebra?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explain (significant) differences vs. Shapley Values?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Limited to r-squared in linear KDRs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Not adjusted r-squared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Not log-linear KDRs, not TURFs, not anything else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A2DB9-C629-F67C-BF9E-2BDC86D9A5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4B349-2FA9-4691-A40D-829E22088964}" type="slidenum">
              <a:rPr lang="en-US" smtClean="0"/>
              <a:pPr/>
              <a:t>100</a:t>
            </a:fld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14C49-B1E9-02FF-18F3-85BBA249DCD3}"/>
              </a:ext>
            </a:extLst>
          </p:cNvPr>
          <p:cNvSpPr txBox="1"/>
          <p:nvPr/>
        </p:nvSpPr>
        <p:spPr>
          <a:xfrm>
            <a:off x="6671186" y="1366268"/>
            <a:ext cx="1219201" cy="46166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b="1" dirty="0">
                <a:solidFill>
                  <a:srgbClr val="009900"/>
                </a:solidFill>
              </a:rPr>
              <a:t>Maybe!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7A8EE-E7E6-E655-D971-6A1313D513CE}"/>
              </a:ext>
            </a:extLst>
          </p:cNvPr>
          <p:cNvSpPr txBox="1"/>
          <p:nvPr/>
        </p:nvSpPr>
        <p:spPr>
          <a:xfrm>
            <a:off x="6582695" y="3084735"/>
            <a:ext cx="1666570" cy="46166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b="1" dirty="0">
                <a:solidFill>
                  <a:srgbClr val="C00000"/>
                </a:solidFill>
              </a:rPr>
              <a:t>Maybe not</a:t>
            </a:r>
          </a:p>
        </p:txBody>
      </p:sp>
    </p:spTree>
    <p:extLst>
      <p:ext uri="{BB962C8B-B14F-4D97-AF65-F5344CB8AC3E}">
        <p14:creationId xmlns:p14="http://schemas.microsoft.com/office/powerpoint/2010/main" val="39850050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4"/>
</p:tagLst>
</file>

<file path=ppt/theme/theme1.xml><?xml version="1.0" encoding="utf-8"?>
<a:theme xmlns:a="http://schemas.openxmlformats.org/drawingml/2006/main" name="SKIM">
  <a:themeElements>
    <a:clrScheme name="SKIM 5">
      <a:dk1>
        <a:srgbClr val="505050"/>
      </a:dk1>
      <a:lt1>
        <a:srgbClr val="FFFFFF"/>
      </a:lt1>
      <a:dk2>
        <a:srgbClr val="004C99"/>
      </a:dk2>
      <a:lt2>
        <a:srgbClr val="A0E1FF"/>
      </a:lt2>
      <a:accent1>
        <a:srgbClr val="00AADB"/>
      </a:accent1>
      <a:accent2>
        <a:srgbClr val="F29754"/>
      </a:accent2>
      <a:accent3>
        <a:srgbClr val="C9D200"/>
      </a:accent3>
      <a:accent4>
        <a:srgbClr val="4E106C"/>
      </a:accent4>
      <a:accent5>
        <a:srgbClr val="5EBF7D"/>
      </a:accent5>
      <a:accent6>
        <a:srgbClr val="BF5662"/>
      </a:accent6>
      <a:hlink>
        <a:srgbClr val="000000"/>
      </a:hlink>
      <a:folHlink>
        <a:srgbClr val="000000"/>
      </a:folHlink>
    </a:clrScheme>
    <a:fontScheme name="SKIM PowerPoint 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 cap="flat" cmpd="sng" algn="ctr">
          <a:solidFill>
            <a:schemeClr val="bg2"/>
          </a:solidFill>
          <a:prstDash val="solid"/>
          <a:round/>
          <a:headEnd type="none" w="med" len="med"/>
          <a:tailEnd type="stealth" w="med" len="med"/>
        </a:ln>
        <a:effectLst/>
      </a:spPr>
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R="0" algn="l" defTabSz="914400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>
            <a:schemeClr val="accent1"/>
          </a:buClr>
          <a:buSzTx/>
          <a:tabLst/>
          <a:defRPr kumimoji="0" sz="14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solidFill>
          <a:schemeClr val="bg1"/>
        </a:solidFill>
        <a:ln w="2857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lIns="45720" tIns="45720" rIns="45720" bIns="45720" rtlCol="0">
        <a:spAutoFit/>
      </a:bodyPr>
      <a:lstStyle>
        <a:defPPr>
          <a:spcBef>
            <a:spcPts val="0"/>
          </a:spcBef>
          <a:spcAft>
            <a:spcPts val="0"/>
          </a:spcAft>
          <a:buClr>
            <a:schemeClr val="accent1"/>
          </a:buClr>
          <a:defRPr sz="1400" dirty="0" smtClean="0"/>
        </a:defPPr>
      </a:lstStyle>
    </a:txDef>
  </a:objectDefaults>
  <a:extraClrSchemeLst>
    <a:extraClrScheme>
      <a:clrScheme name="SKIM PowerPoint template 1">
        <a:dk1>
          <a:srgbClr val="6F6F6F"/>
        </a:dk1>
        <a:lt1>
          <a:srgbClr val="FFFFFF"/>
        </a:lt1>
        <a:dk2>
          <a:srgbClr val="FFFFFF"/>
        </a:dk2>
        <a:lt2>
          <a:srgbClr val="A7DDEA"/>
        </a:lt2>
        <a:accent1>
          <a:srgbClr val="00AADB"/>
        </a:accent1>
        <a:accent2>
          <a:srgbClr val="C9D200"/>
        </a:accent2>
        <a:accent3>
          <a:srgbClr val="FFFFFF"/>
        </a:accent3>
        <a:accent4>
          <a:srgbClr val="5E5E5E"/>
        </a:accent4>
        <a:accent5>
          <a:srgbClr val="AAD2EA"/>
        </a:accent5>
        <a:accent6>
          <a:srgbClr val="B6BE00"/>
        </a:accent6>
        <a:hlink>
          <a:srgbClr val="004C99"/>
        </a:hlink>
        <a:folHlink>
          <a:srgbClr val="F2975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2">
        <a:dk1>
          <a:srgbClr val="6F6F6F"/>
        </a:dk1>
        <a:lt1>
          <a:srgbClr val="FFFFFF"/>
        </a:lt1>
        <a:dk2>
          <a:srgbClr val="FFFFFF"/>
        </a:dk2>
        <a:lt2>
          <a:srgbClr val="A7DDEA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5E5E5E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3">
        <a:dk1>
          <a:srgbClr val="292929"/>
        </a:dk1>
        <a:lt1>
          <a:srgbClr val="FFFFFF"/>
        </a:lt1>
        <a:dk2>
          <a:srgbClr val="FFFFFF"/>
        </a:dk2>
        <a:lt2>
          <a:srgbClr val="A7DDEA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212121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4">
        <a:dk1>
          <a:srgbClr val="333333"/>
        </a:dk1>
        <a:lt1>
          <a:srgbClr val="FFFFFF"/>
        </a:lt1>
        <a:dk2>
          <a:srgbClr val="FFFFFF"/>
        </a:dk2>
        <a:lt2>
          <a:srgbClr val="A7DDEA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2A2A2A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5">
        <a:dk1>
          <a:srgbClr val="080808"/>
        </a:dk1>
        <a:lt1>
          <a:srgbClr val="FFFFFF"/>
        </a:lt1>
        <a:dk2>
          <a:srgbClr val="004C99"/>
        </a:dk2>
        <a:lt2>
          <a:srgbClr val="C3DCF5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060606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6">
        <a:dk1>
          <a:srgbClr val="080808"/>
        </a:dk1>
        <a:lt1>
          <a:srgbClr val="FFFFFF"/>
        </a:lt1>
        <a:dk2>
          <a:srgbClr val="004C99"/>
        </a:dk2>
        <a:lt2>
          <a:srgbClr val="A7DDEA"/>
        </a:lt2>
        <a:accent1>
          <a:srgbClr val="A7DDEA"/>
        </a:accent1>
        <a:accent2>
          <a:srgbClr val="F29754"/>
        </a:accent2>
        <a:accent3>
          <a:srgbClr val="FFFFFF"/>
        </a:accent3>
        <a:accent4>
          <a:srgbClr val="060606"/>
        </a:accent4>
        <a:accent5>
          <a:srgbClr val="D0EBF3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7">
        <a:dk1>
          <a:srgbClr val="080808"/>
        </a:dk1>
        <a:lt1>
          <a:srgbClr val="FFFFFF"/>
        </a:lt1>
        <a:dk2>
          <a:srgbClr val="004C99"/>
        </a:dk2>
        <a:lt2>
          <a:srgbClr val="A7DDEA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060606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8">
        <a:dk1>
          <a:srgbClr val="6F6F6F"/>
        </a:dk1>
        <a:lt1>
          <a:srgbClr val="FFFFFF"/>
        </a:lt1>
        <a:dk2>
          <a:srgbClr val="004C99"/>
        </a:dk2>
        <a:lt2>
          <a:srgbClr val="A7DDEA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5E5E5E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9">
        <a:dk1>
          <a:srgbClr val="000000"/>
        </a:dk1>
        <a:lt1>
          <a:srgbClr val="FFFFFF"/>
        </a:lt1>
        <a:dk2>
          <a:srgbClr val="004C99"/>
        </a:dk2>
        <a:lt2>
          <a:srgbClr val="A7DDEA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000000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10">
        <a:dk1>
          <a:srgbClr val="000000"/>
        </a:dk1>
        <a:lt1>
          <a:srgbClr val="FFFFFF"/>
        </a:lt1>
        <a:dk2>
          <a:srgbClr val="004C99"/>
        </a:dk2>
        <a:lt2>
          <a:srgbClr val="B7E9FF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000000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11">
        <a:dk1>
          <a:srgbClr val="6F6F6F"/>
        </a:dk1>
        <a:lt1>
          <a:srgbClr val="FFFFFF"/>
        </a:lt1>
        <a:dk2>
          <a:srgbClr val="004C99"/>
        </a:dk2>
        <a:lt2>
          <a:srgbClr val="B7E9FF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5E5E5E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KIM PowerPoint template 12">
        <a:dk1>
          <a:srgbClr val="505050"/>
        </a:dk1>
        <a:lt1>
          <a:srgbClr val="FFFFFF"/>
        </a:lt1>
        <a:dk2>
          <a:srgbClr val="004C99"/>
        </a:dk2>
        <a:lt2>
          <a:srgbClr val="A0E1FF"/>
        </a:lt2>
        <a:accent1>
          <a:srgbClr val="00AADB"/>
        </a:accent1>
        <a:accent2>
          <a:srgbClr val="F29754"/>
        </a:accent2>
        <a:accent3>
          <a:srgbClr val="FFFFFF"/>
        </a:accent3>
        <a:accent4>
          <a:srgbClr val="434343"/>
        </a:accent4>
        <a:accent5>
          <a:srgbClr val="AAD2EA"/>
        </a:accent5>
        <a:accent6>
          <a:srgbClr val="DB884B"/>
        </a:accent6>
        <a:hlink>
          <a:srgbClr val="004C99"/>
        </a:hlink>
        <a:folHlink>
          <a:srgbClr val="C9D2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KI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udience xmlns="http://schemas.microsoft.com/sharepoint/v3" xsi:nil="true"/>
    <edca3ed188ec40d69459e431e4b6395b xmlns="db3827c1-eafe-4f12-b5fe-8151cbe8a2a7">
      <Terms xmlns="http://schemas.microsoft.com/office/infopath/2007/PartnerControls"/>
    </edca3ed188ec40d69459e431e4b6395b>
    <PublishingExpirationDate xmlns="http://schemas.microsoft.com/sharepoint/v3" xsi:nil="true"/>
    <PublishingStartDate xmlns="http://schemas.microsoft.com/sharepoint/v3" xsi:nil="true"/>
    <TaxCatchAll xmlns="db3827c1-eafe-4f12-b5fe-8151cbe8a2a7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2301E9C6AAAF449E825CA8BCE893C2" ma:contentTypeVersion="4" ma:contentTypeDescription="Create a new document." ma:contentTypeScope="" ma:versionID="484bdd45f73d3754567022653edf3b29">
  <xsd:schema xmlns:xsd="http://www.w3.org/2001/XMLSchema" xmlns:xs="http://www.w3.org/2001/XMLSchema" xmlns:p="http://schemas.microsoft.com/office/2006/metadata/properties" xmlns:ns1="http://schemas.microsoft.com/sharepoint/v3" xmlns:ns2="db3827c1-eafe-4f12-b5fe-8151cbe8a2a7" targetNamespace="http://schemas.microsoft.com/office/2006/metadata/properties" ma:root="true" ma:fieldsID="4af094701ce9d915dde97ef77c97c565" ns1:_="" ns2:_="">
    <xsd:import namespace="http://schemas.microsoft.com/sharepoint/v3"/>
    <xsd:import namespace="db3827c1-eafe-4f12-b5fe-8151cbe8a2a7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1:Audience" minOccurs="0"/>
                <xsd:element ref="ns2:edca3ed188ec40d69459e431e4b6395b" minOccurs="0"/>
                <xsd:element ref="ns2:TaxCatchAll" minOccurs="0"/>
                <xsd:element ref="ns2:TaxCatchAllLabe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internalName="PublishingExpirationDate">
      <xsd:simpleType>
        <xsd:restriction base="dms:Unknown"/>
      </xsd:simpleType>
    </xsd:element>
    <xsd:element name="Audience" ma:index="10" nillable="true" ma:displayName="Target Audiences" ma:description="" ma:internalName="Audienc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3827c1-eafe-4f12-b5fe-8151cbe8a2a7" elementFormDefault="qualified">
    <xsd:import namespace="http://schemas.microsoft.com/office/2006/documentManagement/types"/>
    <xsd:import namespace="http://schemas.microsoft.com/office/infopath/2007/PartnerControls"/>
    <xsd:element name="edca3ed188ec40d69459e431e4b6395b" ma:index="11" nillable="true" ma:taxonomy="true" ma:internalName="edca3ed188ec40d69459e431e4b6395b" ma:taxonomyFieldName="Folder_x0020_Tags" ma:displayName="Folder Tags" ma:default="" ma:fieldId="{edca3ed1-88ec-40d6-9459-e431e4b6395b}" ma:taxonomyMulti="true" ma:sspId="f66120e7-d31a-4f9f-a0af-f0b8506fa3e4" ma:termSetId="bbfc110d-1b53-48fa-8d8b-7aa30b00eb0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2" nillable="true" ma:displayName="Taxonomy Catch All Column" ma:hidden="true" ma:list="{b73a25ab-30be-406b-8e70-8bd5976078cb}" ma:internalName="TaxCatchAll" ma:showField="CatchAllData" ma:web="db3827c1-eafe-4f12-b5fe-8151cbe8a2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3" nillable="true" ma:displayName="Taxonomy Catch All Column1" ma:hidden="true" ma:list="{b73a25ab-30be-406b-8e70-8bd5976078cb}" ma:internalName="TaxCatchAllLabel" ma:readOnly="true" ma:showField="CatchAllDataLabel" ma:web="db3827c1-eafe-4f12-b5fe-8151cbe8a2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71D2C2-E9B5-495C-8F95-7BB34ACC6F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5D0EBA-E47D-4E85-8659-891313119973}">
  <ds:schemaRefs>
    <ds:schemaRef ds:uri="http://schemas.microsoft.com/office/2006/metadata/properties"/>
    <ds:schemaRef ds:uri="db3827c1-eafe-4f12-b5fe-8151cbe8a2a7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C7C621C-D2A4-4D0B-B5A1-926D3BEF76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b3827c1-eafe-4f12-b5fe-8151cbe8a2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SKIM</Template>
  <TotalTime>157243</TotalTime>
  <Words>6450</Words>
  <Application>Microsoft Office PowerPoint</Application>
  <PresentationFormat>On-screen Show (16:9)</PresentationFormat>
  <Paragraphs>971</Paragraphs>
  <Slides>100</Slides>
  <Notes>73</Notes>
  <HiddenSlides>12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100</vt:i4>
      </vt:variant>
    </vt:vector>
  </HeadingPairs>
  <TitlesOfParts>
    <vt:vector size="111" baseType="lpstr">
      <vt:lpstr>Arial</vt:lpstr>
      <vt:lpstr>Arial Unicode MS</vt:lpstr>
      <vt:lpstr>Calibri</vt:lpstr>
      <vt:lpstr>Cambria</vt:lpstr>
      <vt:lpstr>Cambria Math</vt:lpstr>
      <vt:lpstr>Consolas</vt:lpstr>
      <vt:lpstr>Courier New</vt:lpstr>
      <vt:lpstr>Lucida Grande</vt:lpstr>
      <vt:lpstr>Wingdings</vt:lpstr>
      <vt:lpstr>SKIM</vt:lpstr>
      <vt:lpstr>1_Custom Design</vt:lpstr>
      <vt:lpstr>PowerPoint Presentation</vt:lpstr>
      <vt:lpstr>The Plan</vt:lpstr>
      <vt:lpstr>Datasets</vt:lpstr>
      <vt:lpstr>PowerPoint Presentation</vt:lpstr>
      <vt:lpstr>Key Drivers </vt:lpstr>
      <vt:lpstr>Simple R2</vt:lpstr>
      <vt:lpstr>Significance Testing </vt:lpstr>
      <vt:lpstr>Stepwise Additions </vt:lpstr>
      <vt:lpstr>Order Matters </vt:lpstr>
      <vt:lpstr>Share the Overlap </vt:lpstr>
      <vt:lpstr>Share the Overlap </vt:lpstr>
      <vt:lpstr>Share the Overlap  </vt:lpstr>
      <vt:lpstr>Share the Overlap  </vt:lpstr>
      <vt:lpstr>Shared Overlap </vt:lpstr>
      <vt:lpstr>Shared Overlap </vt:lpstr>
      <vt:lpstr>The Combination View</vt:lpstr>
      <vt:lpstr>Combination View</vt:lpstr>
      <vt:lpstr>Weighting Contributions to Combinations for SVs</vt:lpstr>
      <vt:lpstr>Orderings ≡ Combinations</vt:lpstr>
      <vt:lpstr>Shapley Values, Axiomatically</vt:lpstr>
      <vt:lpstr>Shapley Values, Axiomatically</vt:lpstr>
      <vt:lpstr>Shapley Values</vt:lpstr>
      <vt:lpstr>SVs as a “Lens” into TURF</vt:lpstr>
      <vt:lpstr>PowerPoint Presentation</vt:lpstr>
      <vt:lpstr>Computation</vt:lpstr>
      <vt:lpstr>Sampling Combinations?</vt:lpstr>
      <vt:lpstr>Component Order of Addition (COA) Designs</vt:lpstr>
      <vt:lpstr>Example: A Small COA</vt:lpstr>
      <vt:lpstr>But, Do They Work?</vt:lpstr>
      <vt:lpstr>But, Do They Work?</vt:lpstr>
      <vt:lpstr>A Bigger KDR</vt:lpstr>
      <vt:lpstr>TURF as a Special Case—Easy Computation</vt:lpstr>
      <vt:lpstr>A Big TURF</vt:lpstr>
      <vt:lpstr>A Really Big TURF</vt:lpstr>
      <vt:lpstr>Multiple COAs Exist</vt:lpstr>
      <vt:lpstr>Using Multiple COAs—Comparing and Stacking</vt:lpstr>
      <vt:lpstr>Within COAs, Experimental Design Pays Off</vt:lpstr>
      <vt:lpstr>The Fine Print on COAs</vt:lpstr>
      <vt:lpstr>The Fine Print on COAs</vt:lpstr>
      <vt:lpstr>Dropped Items by Size</vt:lpstr>
      <vt:lpstr>How Bad is the Equi-Positioning Imbalance?</vt:lpstr>
      <vt:lpstr>PowerPoint Presentation</vt:lpstr>
      <vt:lpstr>Do SVs Really Tell Us Anything?</vt:lpstr>
      <vt:lpstr>Do SVs Really Tell Us Anything?</vt:lpstr>
      <vt:lpstr>Do We Learn From These?</vt:lpstr>
      <vt:lpstr>Do We Learn from This TURF?</vt:lpstr>
      <vt:lpstr>When Shapley Values Tell Us Nothing</vt:lpstr>
      <vt:lpstr>Size-Limited Shapley Values*</vt:lpstr>
      <vt:lpstr>Size-Limited SVs and COAs</vt:lpstr>
      <vt:lpstr>PowerPoint Presentation</vt:lpstr>
      <vt:lpstr>Size-Limited SVs Can  Be More Interesting</vt:lpstr>
      <vt:lpstr>PowerPoint Presentation</vt:lpstr>
      <vt:lpstr>TURF and MaxDiff</vt:lpstr>
      <vt:lpstr>TURF and “MaxDiff” – Opt. 1: Pre-Thresholding</vt:lpstr>
      <vt:lpstr>“TURF” &amp; MaxDiff, Opt. 2: Weighted Probability</vt:lpstr>
      <vt:lpstr>PowerPoint Presentation</vt:lpstr>
      <vt:lpstr>PowerPoint Presentation</vt:lpstr>
      <vt:lpstr>“TURF” and MaxDiff, Weighted Probability</vt:lpstr>
      <vt:lpstr>TURF and MaxDiff, Opt. 3: Post-Thresholding</vt:lpstr>
      <vt:lpstr>Choosing a Post-Threshold Value</vt:lpstr>
      <vt:lpstr>PowerPoint Presentation</vt:lpstr>
      <vt:lpstr>PowerPoint Presentation</vt:lpstr>
      <vt:lpstr>PowerPoint Presentation</vt:lpstr>
      <vt:lpstr>TURF and MaxDiff—Where Did SVs Help?</vt:lpstr>
      <vt:lpstr>TURF and MaxDiff—Where Do SVs Help?</vt:lpstr>
      <vt:lpstr>PowerPoint Presentation</vt:lpstr>
      <vt:lpstr>Many Ways to Use Shapley Values</vt:lpstr>
      <vt:lpstr>Many Ways to Value Combinations</vt:lpstr>
      <vt:lpstr>Exact &amp; Fast SVs with TURF Variants </vt:lpstr>
      <vt:lpstr>Software &amp; Design Catalog</vt:lpstr>
      <vt:lpstr>Take-Aways:  Shapley Values</vt:lpstr>
      <vt:lpstr>PowerPoint Presentation</vt:lpstr>
      <vt:lpstr>References</vt:lpstr>
      <vt:lpstr>References (continued)</vt:lpstr>
      <vt:lpstr>PowerPoint Presentation</vt:lpstr>
      <vt:lpstr>R Software—COA Creation</vt:lpstr>
      <vt:lpstr>R Software—General Shapley Values</vt:lpstr>
      <vt:lpstr>R Software—Key Driver Regressions</vt:lpstr>
      <vt:lpstr>R Software—TURF</vt:lpstr>
      <vt:lpstr>R Software—TURF</vt:lpstr>
      <vt:lpstr>R Software—Other</vt:lpstr>
      <vt:lpstr>GitHub for R Software &amp; Design Catalog</vt:lpstr>
      <vt:lpstr>Other Software</vt:lpstr>
      <vt:lpstr>PowerPoint Presentation</vt:lpstr>
      <vt:lpstr>Timing Considerations – All COAs</vt:lpstr>
      <vt:lpstr>Timing Considerations – Timing Charts</vt:lpstr>
      <vt:lpstr>PowerPoint Presentation</vt:lpstr>
      <vt:lpstr>Timing Considerations – TURFs</vt:lpstr>
      <vt:lpstr>PowerPoint Presentation</vt:lpstr>
      <vt:lpstr>PowerPoint Presentation</vt:lpstr>
      <vt:lpstr>Timing Considerations – Linear KDRs</vt:lpstr>
      <vt:lpstr>PowerPoint Presentation</vt:lpstr>
      <vt:lpstr>Timing Considerations – Logistic Regressions</vt:lpstr>
      <vt:lpstr>PowerPoint Presentation</vt:lpstr>
      <vt:lpstr>PowerPoint Presentation</vt:lpstr>
      <vt:lpstr>Johnson’s Relative Weights Analysis</vt:lpstr>
      <vt:lpstr>Johnson’s Relative Weights Analysis</vt:lpstr>
      <vt:lpstr>PowerPoint Presentation</vt:lpstr>
      <vt:lpstr>PowerPoint Presentation</vt:lpstr>
      <vt:lpstr>Johnson’s Relative Weights Analysis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Aligning Big Data Demographics with Survey Attitudes using Expectation-Maximization and Nested Logit Classifier Ensembles</dc:title>
  <dc:creator>Kevin Lattery</dc:creator>
  <cp:lastModifiedBy>David Lyon</cp:lastModifiedBy>
  <cp:revision>2055</cp:revision>
  <cp:lastPrinted>2026-04-10T16:48:18Z</cp:lastPrinted>
  <dcterms:created xsi:type="dcterms:W3CDTF">2013-05-23T14:51:36Z</dcterms:created>
  <dcterms:modified xsi:type="dcterms:W3CDTF">2026-04-26T22:28:23Z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0x010100F42301E9C6AAAF449E825CA8BCE893C2</vt:lpwstr>
  </property>
  <property fmtid="{D5CDD505-2E9C-101B-9397-08002B2CF9AE}" pid="3" name="Folder Tags">
    <vt:lpwstr/>
  </property>
</Properties>
</file>